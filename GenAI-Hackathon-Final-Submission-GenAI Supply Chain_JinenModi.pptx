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4" r:id="rId4"/>
  </p:sldMasterIdLst>
  <p:notesMasterIdLst>
    <p:notesMasterId r:id="rId22"/>
  </p:notesMasterIdLst>
  <p:handoutMasterIdLst>
    <p:handoutMasterId r:id="rId23"/>
  </p:handoutMasterIdLst>
  <p:sldIdLst>
    <p:sldId id="256" r:id="rId5"/>
    <p:sldId id="4613" r:id="rId6"/>
    <p:sldId id="4504" r:id="rId7"/>
    <p:sldId id="4513" r:id="rId8"/>
    <p:sldId id="4505" r:id="rId9"/>
    <p:sldId id="4507" r:id="rId10"/>
    <p:sldId id="4617" r:id="rId11"/>
    <p:sldId id="4506" r:id="rId12"/>
    <p:sldId id="4618" r:id="rId13"/>
    <p:sldId id="4614" r:id="rId14"/>
    <p:sldId id="4515" r:id="rId15"/>
    <p:sldId id="4509" r:id="rId16"/>
    <p:sldId id="4619" r:id="rId17"/>
    <p:sldId id="4508" r:id="rId18"/>
    <p:sldId id="4620" r:id="rId19"/>
    <p:sldId id="4516" r:id="rId20"/>
    <p:sldId id="4616" r:id="rId2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1pPr>
    <a:lvl2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2pPr>
    <a:lvl3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3pPr>
    <a:lvl4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4pPr>
    <a:lvl5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5pPr>
    <a:lvl6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6pPr>
    <a:lvl7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7pPr>
    <a:lvl8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8pPr>
    <a:lvl9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lagna Ganguly" initials="SG" lastIdx="2" clrIdx="0">
    <p:extLst>
      <p:ext uri="{19B8F6BF-5375-455C-9EA6-DF929625EA0E}">
        <p15:presenceInfo xmlns:p15="http://schemas.microsoft.com/office/powerpoint/2012/main" userId="S::sulagna.ganguly@impetus.co.in::390dbe48-f3c8-4ab9-8ff5-43f10fce6375" providerId="AD"/>
      </p:ext>
    </p:extLst>
  </p:cmAuthor>
  <p:cmAuthor id="2" name="Rakesh Raushan" initials="RR" lastIdx="1" clrIdx="1">
    <p:extLst>
      <p:ext uri="{19B8F6BF-5375-455C-9EA6-DF929625EA0E}">
        <p15:presenceInfo xmlns:p15="http://schemas.microsoft.com/office/powerpoint/2012/main" userId="S::rakesh.raushan@impetus.co.in::70b623ff-17c6-4328-bef6-b79c3709affe" providerId="AD"/>
      </p:ext>
    </p:extLst>
  </p:cmAuthor>
  <p:cmAuthor id="3" name="Microsoft Office User" initials="MOU" lastIdx="5"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A4C75-2CBE-4149-4D1E-A3D479F866DA}" v="6" dt="2025-06-25T13:16:38.14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04"/>
    <p:restoredTop sz="86411"/>
  </p:normalViewPr>
  <p:slideViewPr>
    <p:cSldViewPr snapToGrid="0">
      <p:cViewPr varScale="1">
        <p:scale>
          <a:sx n="57" d="100"/>
          <a:sy n="57" d="100"/>
        </p:scale>
        <p:origin x="424" y="20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B2C1BEA-61EE-6940-AD71-AAF0090B22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A97278E-D128-DC4E-8254-40EEB0381DB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96B7E4-35F5-7F42-AA53-98E5F4260CF8}" type="datetimeFigureOut">
              <a:rPr lang="en-US" smtClean="0"/>
              <a:t>7/10/25</a:t>
            </a:fld>
            <a:endParaRPr lang="en-US"/>
          </a:p>
        </p:txBody>
      </p:sp>
      <p:sp>
        <p:nvSpPr>
          <p:cNvPr id="4" name="Footer Placeholder 3">
            <a:extLst>
              <a:ext uri="{FF2B5EF4-FFF2-40B4-BE49-F238E27FC236}">
                <a16:creationId xmlns:a16="http://schemas.microsoft.com/office/drawing/2014/main" id="{B727F30D-4FEC-0049-979E-718493116E3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DD3A827-5AD0-D946-AD01-2ACC01B728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5659CC-3290-C244-A19A-25FB10A482EE}" type="slidenum">
              <a:rPr lang="en-US" smtClean="0"/>
              <a:t>‹#›</a:t>
            </a:fld>
            <a:endParaRPr lang="en-US"/>
          </a:p>
        </p:txBody>
      </p:sp>
    </p:spTree>
    <p:extLst>
      <p:ext uri="{BB962C8B-B14F-4D97-AF65-F5344CB8AC3E}">
        <p14:creationId xmlns:p14="http://schemas.microsoft.com/office/powerpoint/2010/main" val="1368858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1" name="Shape 71"/>
          <p:cNvSpPr>
            <a:spLocks noGrp="1" noRot="1" noChangeAspect="1"/>
          </p:cNvSpPr>
          <p:nvPr>
            <p:ph type="sldImg"/>
          </p:nvPr>
        </p:nvSpPr>
        <p:spPr>
          <a:xfrm>
            <a:off x="1143000" y="685800"/>
            <a:ext cx="4572000" cy="3429000"/>
          </a:xfrm>
          <a:prstGeom prst="rect">
            <a:avLst/>
          </a:prstGeom>
        </p:spPr>
        <p:txBody>
          <a:bodyPr/>
          <a:lstStyle/>
          <a:p>
            <a:endParaRPr/>
          </a:p>
        </p:txBody>
      </p:sp>
      <p:sp>
        <p:nvSpPr>
          <p:cNvPr id="72" name="Shape 7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548195319"/>
      </p:ext>
    </p:extLst>
  </p:cSld>
  <p:clrMap bg1="lt1" tx1="dk1" bg2="lt2" tx2="dk2" accent1="accent1" accent2="accent2" accent3="accent3" accent4="accent4" accent5="accent5" accent6="accent6" hlink="hlink" folHlink="folHlink"/>
  <p:notesStyle>
    <a:lvl1pPr defTabSz="1828800" latinLnBrk="0">
      <a:defRPr sz="2400">
        <a:latin typeface="+mj-lt"/>
        <a:ea typeface="+mj-ea"/>
        <a:cs typeface="+mj-cs"/>
        <a:sym typeface="Arial"/>
      </a:defRPr>
    </a:lvl1pPr>
    <a:lvl2pPr indent="228600" defTabSz="1828800" latinLnBrk="0">
      <a:defRPr sz="2400">
        <a:latin typeface="+mj-lt"/>
        <a:ea typeface="+mj-ea"/>
        <a:cs typeface="+mj-cs"/>
        <a:sym typeface="Arial"/>
      </a:defRPr>
    </a:lvl2pPr>
    <a:lvl3pPr indent="457200" defTabSz="1828800" latinLnBrk="0">
      <a:defRPr sz="2400">
        <a:latin typeface="+mj-lt"/>
        <a:ea typeface="+mj-ea"/>
        <a:cs typeface="+mj-cs"/>
        <a:sym typeface="Arial"/>
      </a:defRPr>
    </a:lvl3pPr>
    <a:lvl4pPr indent="685800" defTabSz="1828800" latinLnBrk="0">
      <a:defRPr sz="2400">
        <a:latin typeface="+mj-lt"/>
        <a:ea typeface="+mj-ea"/>
        <a:cs typeface="+mj-cs"/>
        <a:sym typeface="Arial"/>
      </a:defRPr>
    </a:lvl4pPr>
    <a:lvl5pPr indent="914400" defTabSz="1828800" latinLnBrk="0">
      <a:defRPr sz="2400">
        <a:latin typeface="+mj-lt"/>
        <a:ea typeface="+mj-ea"/>
        <a:cs typeface="+mj-cs"/>
        <a:sym typeface="Arial"/>
      </a:defRPr>
    </a:lvl5pPr>
    <a:lvl6pPr indent="1143000" defTabSz="1828800" latinLnBrk="0">
      <a:defRPr sz="2400">
        <a:latin typeface="+mj-lt"/>
        <a:ea typeface="+mj-ea"/>
        <a:cs typeface="+mj-cs"/>
        <a:sym typeface="Arial"/>
      </a:defRPr>
    </a:lvl6pPr>
    <a:lvl7pPr indent="1371600" defTabSz="1828800" latinLnBrk="0">
      <a:defRPr sz="2400">
        <a:latin typeface="+mj-lt"/>
        <a:ea typeface="+mj-ea"/>
        <a:cs typeface="+mj-cs"/>
        <a:sym typeface="Arial"/>
      </a:defRPr>
    </a:lvl7pPr>
    <a:lvl8pPr indent="1600200" defTabSz="1828800" latinLnBrk="0">
      <a:defRPr sz="2400">
        <a:latin typeface="+mj-lt"/>
        <a:ea typeface="+mj-ea"/>
        <a:cs typeface="+mj-cs"/>
        <a:sym typeface="Arial"/>
      </a:defRPr>
    </a:lvl8pPr>
    <a:lvl9pPr indent="1828800" defTabSz="1828800" latinLnBrk="0">
      <a:defRPr sz="24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45081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1189788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dirty="0"/>
          </a:p>
        </p:txBody>
      </p:sp>
    </p:spTree>
    <p:extLst>
      <p:ext uri="{BB962C8B-B14F-4D97-AF65-F5344CB8AC3E}">
        <p14:creationId xmlns:p14="http://schemas.microsoft.com/office/powerpoint/2010/main" val="1364749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dirty="0"/>
          </a:p>
        </p:txBody>
      </p:sp>
    </p:spTree>
    <p:extLst>
      <p:ext uri="{BB962C8B-B14F-4D97-AF65-F5344CB8AC3E}">
        <p14:creationId xmlns:p14="http://schemas.microsoft.com/office/powerpoint/2010/main" val="3130658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3008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dirty="0"/>
          </a:p>
        </p:txBody>
      </p:sp>
    </p:spTree>
    <p:extLst>
      <p:ext uri="{BB962C8B-B14F-4D97-AF65-F5344CB8AC3E}">
        <p14:creationId xmlns:p14="http://schemas.microsoft.com/office/powerpoint/2010/main" val="2996784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2044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1F281-3A62-44C2-BB58-7477063AC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FC99C-9D87-AA5B-84F3-AD2ACE1237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891AA7C-9AF7-F9F8-3198-DA1A656C94DB}"/>
              </a:ext>
            </a:extLst>
          </p:cNvPr>
          <p:cNvSpPr>
            <a:spLocks noGrp="1"/>
          </p:cNvSpPr>
          <p:nvPr>
            <p:ph type="body" idx="1"/>
          </p:nvPr>
        </p:nvSpPr>
        <p:spPr/>
        <p:txBody>
          <a:bodyPr/>
          <a:lstStyle/>
          <a:p>
            <a:endParaRPr lang="en-US" b="0" dirty="0"/>
          </a:p>
        </p:txBody>
      </p:sp>
    </p:spTree>
    <p:extLst>
      <p:ext uri="{BB962C8B-B14F-4D97-AF65-F5344CB8AC3E}">
        <p14:creationId xmlns:p14="http://schemas.microsoft.com/office/powerpoint/2010/main" val="4084928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A5646-E381-82BE-DC27-410D05B7E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2565D-8A7C-44DD-2816-72196140F5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096C0C8-DF9F-D0D7-FF76-790D30BF8611}"/>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3217965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dirty="0"/>
          </a:p>
        </p:txBody>
      </p:sp>
    </p:spTree>
    <p:extLst>
      <p:ext uri="{BB962C8B-B14F-4D97-AF65-F5344CB8AC3E}">
        <p14:creationId xmlns:p14="http://schemas.microsoft.com/office/powerpoint/2010/main" val="368185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370325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EDE8A-9EC4-EB27-D515-1C09E3AA2B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3FDD0-920F-1366-72EA-FB63E8A464E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DAF4CFC-EEBC-D63A-4BA3-0890D48DB43F}"/>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610332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2BBC1-EBBD-5418-A85D-F68380D1B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D7492-2F3B-5281-A4B1-2198E9DE319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A10138E-DA84-5F5C-8AFC-0484A6193C6A}"/>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22778453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reserve="1">
  <p:cSld name="Copyright">
    <p:spTree>
      <p:nvGrpSpPr>
        <p:cNvPr id="1" name=""/>
        <p:cNvGrpSpPr/>
        <p:nvPr/>
      </p:nvGrpSpPr>
      <p:grpSpPr>
        <a:xfrm>
          <a:off x="0" y="0"/>
          <a:ext cx="0" cy="0"/>
          <a:chOff x="0" y="0"/>
          <a:chExt cx="0" cy="0"/>
        </a:xfrm>
      </p:grpSpPr>
      <p:sp>
        <p:nvSpPr>
          <p:cNvPr id="12" name="©2018 Impetus Technologies, Inc. All rights reserved.…"/>
          <p:cNvSpPr txBox="1"/>
          <p:nvPr/>
        </p:nvSpPr>
        <p:spPr>
          <a:xfrm>
            <a:off x="1625600" y="5297791"/>
            <a:ext cx="13586571" cy="309501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spAutoFit/>
          </a:bodyPr>
          <a:lstStyle/>
          <a:p>
            <a:pPr algn="l">
              <a:lnSpc>
                <a:spcPct val="120000"/>
              </a:lnSpc>
              <a:spcBef>
                <a:spcPts val="1800"/>
              </a:spcBef>
              <a:defRPr sz="2400">
                <a:solidFill>
                  <a:srgbClr val="D5D5D5"/>
                </a:solidFill>
              </a:defRPr>
            </a:pPr>
            <a:r>
              <a:rPr b="0" i="0">
                <a:latin typeface="Arial" panose="020B0604020202020204" pitchFamily="34" charset="0"/>
                <a:cs typeface="Arial" panose="020B0604020202020204" pitchFamily="34" charset="0"/>
              </a:rPr>
              <a:t>Copyright © 202</a:t>
            </a:r>
            <a:r>
              <a:rPr lang="en-US" b="0" i="0">
                <a:latin typeface="Arial" panose="020B0604020202020204" pitchFamily="34" charset="0"/>
                <a:cs typeface="Arial" panose="020B0604020202020204" pitchFamily="34" charset="0"/>
              </a:rPr>
              <a:t>5</a:t>
            </a:r>
            <a:r>
              <a:rPr b="0" i="0">
                <a:latin typeface="Arial" panose="020B0604020202020204" pitchFamily="34" charset="0"/>
                <a:cs typeface="Arial" panose="020B0604020202020204" pitchFamily="34" charset="0"/>
              </a:rPr>
              <a:t> Impetus Technologies, Inc.</a:t>
            </a:r>
          </a:p>
          <a:p>
            <a:pPr algn="l">
              <a:lnSpc>
                <a:spcPct val="120000"/>
              </a:lnSpc>
              <a:spcBef>
                <a:spcPts val="1800"/>
              </a:spcBef>
              <a:defRPr sz="2400">
                <a:solidFill>
                  <a:srgbClr val="D5D5D5"/>
                </a:solidFill>
              </a:defRPr>
            </a:pPr>
            <a:r>
              <a:rPr b="0" i="0">
                <a:latin typeface="Arial" panose="020B0604020202020204" pitchFamily="34" charset="0"/>
                <a:cs typeface="Arial" panose="020B0604020202020204" pitchFamily="34" charset="0"/>
              </a:rPr>
              <a:t>You are prohibited from making a copy or modification of, or from redistributing, rebroadcasting, or re-encoding of this content without the prior written consent of Impetus.</a:t>
            </a:r>
          </a:p>
          <a:p>
            <a:pPr algn="l">
              <a:lnSpc>
                <a:spcPct val="120000"/>
              </a:lnSpc>
              <a:spcBef>
                <a:spcPts val="1800"/>
              </a:spcBef>
              <a:defRPr sz="2400">
                <a:solidFill>
                  <a:srgbClr val="D5D5D5"/>
                </a:solidFill>
              </a:defRPr>
            </a:pPr>
            <a:r>
              <a:rPr b="0" i="0">
                <a:latin typeface="Arial" panose="020B0604020202020204" pitchFamily="34" charset="0"/>
                <a:cs typeface="Arial" panose="020B0604020202020204" pitchFamily="34" charset="0"/>
              </a:rPr>
              <a:t>This presentation may include images from other products and services. These images are used for illustrative purposes only. Unless explicitly stated there is no implied endorsement or sponsorship of these products by Impetus. All copyrights and trademarks are property of their respective owners. </a:t>
            </a:r>
          </a:p>
        </p:txBody>
      </p:sp>
      <p:pic>
        <p:nvPicPr>
          <p:cNvPr id="2" name="Impetus master logo black and white.pdf">
            <a:extLst>
              <a:ext uri="{FF2B5EF4-FFF2-40B4-BE49-F238E27FC236}">
                <a16:creationId xmlns:a16="http://schemas.microsoft.com/office/drawing/2014/main" id="{2FF7E58C-83DF-2B09-21B7-5F12005BACC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261265" y="12734434"/>
            <a:ext cx="2596440" cy="730250"/>
          </a:xfrm>
          <a:prstGeom prst="rect">
            <a:avLst/>
          </a:prstGeom>
          <a:ln w="12700">
            <a:miter lim="400000"/>
          </a:ln>
        </p:spPr>
      </p:pic>
    </p:spTree>
    <p:extLst>
      <p:ext uri="{BB962C8B-B14F-4D97-AF65-F5344CB8AC3E}">
        <p14:creationId xmlns:p14="http://schemas.microsoft.com/office/powerpoint/2010/main" val="2175244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Impetus_cover_v1">
    <p:spTree>
      <p:nvGrpSpPr>
        <p:cNvPr id="1" name=""/>
        <p:cNvGrpSpPr/>
        <p:nvPr/>
      </p:nvGrpSpPr>
      <p:grpSpPr>
        <a:xfrm>
          <a:off x="0" y="0"/>
          <a:ext cx="0" cy="0"/>
          <a:chOff x="0" y="0"/>
          <a:chExt cx="0" cy="0"/>
        </a:xfrm>
      </p:grpSpPr>
      <p:pic>
        <p:nvPicPr>
          <p:cNvPr id="52" name="Graphic 51">
            <a:extLst>
              <a:ext uri="{FF2B5EF4-FFF2-40B4-BE49-F238E27FC236}">
                <a16:creationId xmlns:a16="http://schemas.microsoft.com/office/drawing/2014/main" id="{129E6917-F57D-DED0-ABEE-91CB2188BF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57924" y="4677820"/>
            <a:ext cx="14332797" cy="4586495"/>
          </a:xfrm>
          <a:prstGeom prst="rect">
            <a:avLst/>
          </a:prstGeom>
        </p:spPr>
      </p:pic>
    </p:spTree>
    <p:extLst>
      <p:ext uri="{BB962C8B-B14F-4D97-AF65-F5344CB8AC3E}">
        <p14:creationId xmlns:p14="http://schemas.microsoft.com/office/powerpoint/2010/main" val="2557803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Deck Title">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DD5D79BD-0F71-6A85-3A91-3847AB591C93}"/>
              </a:ext>
            </a:extLst>
          </p:cNvPr>
          <p:cNvSpPr>
            <a:spLocks noGrp="1"/>
          </p:cNvSpPr>
          <p:nvPr>
            <p:ph type="body" sz="quarter" idx="10" hasCustomPrompt="1"/>
          </p:nvPr>
        </p:nvSpPr>
        <p:spPr>
          <a:xfrm>
            <a:off x="914400" y="3657600"/>
            <a:ext cx="22549104" cy="3200400"/>
          </a:xfrm>
          <a:prstGeom prst="rect">
            <a:avLst/>
          </a:prstGeom>
        </p:spPr>
        <p:txBody>
          <a:bodyPr bIns="182880" anchor="b"/>
          <a:lstStyle>
            <a:lvl1pPr marL="0" indent="0">
              <a:buNone/>
              <a:defRPr sz="7196" b="1" i="0">
                <a:latin typeface="Lato" panose="020F0502020204030203" pitchFamily="34" charset="77"/>
                <a:cs typeface="Arial" panose="020B0604020202020204" pitchFamily="34" charset="0"/>
              </a:defRPr>
            </a:lvl1pPr>
            <a:lvl2pPr marL="913670" indent="0">
              <a:buNone/>
              <a:defRPr sz="5997" b="0" i="0">
                <a:latin typeface="Poppins Medium" pitchFamily="2" charset="77"/>
                <a:cs typeface="Poppins Medium" pitchFamily="2" charset="77"/>
              </a:defRPr>
            </a:lvl2pPr>
            <a:lvl3pPr marL="1827337" indent="0">
              <a:buNone/>
              <a:defRPr sz="5997" b="0" i="0">
                <a:latin typeface="Poppins Medium" pitchFamily="2" charset="77"/>
                <a:cs typeface="Poppins Medium" pitchFamily="2" charset="77"/>
              </a:defRPr>
            </a:lvl3pPr>
            <a:lvl4pPr marL="2741007" indent="0">
              <a:buNone/>
              <a:defRPr sz="5997" b="0" i="0">
                <a:latin typeface="Poppins Medium" pitchFamily="2" charset="77"/>
                <a:cs typeface="Poppins Medium" pitchFamily="2" charset="77"/>
              </a:defRPr>
            </a:lvl4pPr>
            <a:lvl5pPr marL="3654674" indent="0">
              <a:buNone/>
              <a:defRPr sz="5997" b="0" i="0">
                <a:latin typeface="Poppins Medium" pitchFamily="2" charset="77"/>
                <a:cs typeface="Poppins Medium" pitchFamily="2" charset="77"/>
              </a:defRPr>
            </a:lvl5pPr>
          </a:lstStyle>
          <a:p>
            <a:pPr lvl="0"/>
            <a:r>
              <a:rPr lang="en-US"/>
              <a:t>Add title of presentation </a:t>
            </a:r>
          </a:p>
        </p:txBody>
      </p:sp>
      <p:sp>
        <p:nvSpPr>
          <p:cNvPr id="10" name="Text Placeholder 8">
            <a:extLst>
              <a:ext uri="{FF2B5EF4-FFF2-40B4-BE49-F238E27FC236}">
                <a16:creationId xmlns:a16="http://schemas.microsoft.com/office/drawing/2014/main" id="{FA17CC50-0983-FB29-9AB7-5FBC337CCF4F}"/>
              </a:ext>
            </a:extLst>
          </p:cNvPr>
          <p:cNvSpPr>
            <a:spLocks noGrp="1"/>
          </p:cNvSpPr>
          <p:nvPr>
            <p:ph type="body" sz="quarter" idx="11" hasCustomPrompt="1"/>
          </p:nvPr>
        </p:nvSpPr>
        <p:spPr>
          <a:xfrm>
            <a:off x="914400" y="7040880"/>
            <a:ext cx="22549104" cy="2743200"/>
          </a:xfrm>
          <a:prstGeom prst="rect">
            <a:avLst/>
          </a:prstGeom>
        </p:spPr>
        <p:txBody>
          <a:bodyPr tIns="182880" bIns="91440"/>
          <a:lstStyle>
            <a:lvl1pPr marL="0" indent="0">
              <a:buNone/>
              <a:defRPr sz="4799" b="0" i="0">
                <a:solidFill>
                  <a:schemeClr val="bg1">
                    <a:lumMod val="50000"/>
                  </a:schemeClr>
                </a:solidFill>
                <a:latin typeface="Lato" panose="020F0502020204030203" pitchFamily="34" charset="77"/>
                <a:cs typeface="Arial" panose="020B0604020202020204" pitchFamily="34" charset="0"/>
              </a:defRPr>
            </a:lvl1pPr>
            <a:lvl2pPr marL="913670" indent="0">
              <a:buNone/>
              <a:defRPr sz="5997" b="0" i="0">
                <a:latin typeface="Poppins Medium" pitchFamily="2" charset="77"/>
                <a:cs typeface="Poppins Medium" pitchFamily="2" charset="77"/>
              </a:defRPr>
            </a:lvl2pPr>
            <a:lvl3pPr marL="1827337" indent="0">
              <a:buNone/>
              <a:defRPr sz="5997" b="0" i="0">
                <a:latin typeface="Poppins Medium" pitchFamily="2" charset="77"/>
                <a:cs typeface="Poppins Medium" pitchFamily="2" charset="77"/>
              </a:defRPr>
            </a:lvl3pPr>
            <a:lvl4pPr marL="2741007" indent="0">
              <a:buNone/>
              <a:defRPr sz="5997" b="0" i="0">
                <a:latin typeface="Poppins Medium" pitchFamily="2" charset="77"/>
                <a:cs typeface="Poppins Medium" pitchFamily="2" charset="77"/>
              </a:defRPr>
            </a:lvl4pPr>
            <a:lvl5pPr marL="3654674" indent="0">
              <a:buNone/>
              <a:defRPr sz="5997" b="0" i="0">
                <a:latin typeface="Poppins Medium" pitchFamily="2" charset="77"/>
                <a:cs typeface="Poppins Medium" pitchFamily="2" charset="77"/>
              </a:defRPr>
            </a:lvl5pPr>
          </a:lstStyle>
          <a:p>
            <a:pPr lvl="0"/>
            <a:r>
              <a:rPr lang="en-US"/>
              <a:t>Secondary Copy (Date, speaker names, etc.)</a:t>
            </a:r>
          </a:p>
        </p:txBody>
      </p:sp>
    </p:spTree>
    <p:extLst>
      <p:ext uri="{BB962C8B-B14F-4D97-AF65-F5344CB8AC3E}">
        <p14:creationId xmlns:p14="http://schemas.microsoft.com/office/powerpoint/2010/main" val="2852546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plogic title page">
    <p:spTree>
      <p:nvGrpSpPr>
        <p:cNvPr id="1" name=""/>
        <p:cNvGrpSpPr/>
        <p:nvPr/>
      </p:nvGrpSpPr>
      <p:grpSpPr>
        <a:xfrm>
          <a:off x="0" y="0"/>
          <a:ext cx="0" cy="0"/>
          <a:chOff x="0" y="0"/>
          <a:chExt cx="0" cy="0"/>
        </a:xfrm>
      </p:grpSpPr>
      <p:sp>
        <p:nvSpPr>
          <p:cNvPr id="7" name="Title Text">
            <a:extLst>
              <a:ext uri="{FF2B5EF4-FFF2-40B4-BE49-F238E27FC236}">
                <a16:creationId xmlns:a16="http://schemas.microsoft.com/office/drawing/2014/main" id="{14EF0C9A-1083-4E30-9B02-2798751D4BC0}"/>
              </a:ext>
            </a:extLst>
          </p:cNvPr>
          <p:cNvSpPr txBox="1">
            <a:spLocks noGrp="1"/>
          </p:cNvSpPr>
          <p:nvPr>
            <p:ph type="title" hasCustomPrompt="1"/>
          </p:nvPr>
        </p:nvSpPr>
        <p:spPr>
          <a:xfrm>
            <a:off x="914400" y="770022"/>
            <a:ext cx="22549104" cy="7392060"/>
          </a:xfrm>
          <a:prstGeom prst="rect">
            <a:avLst/>
          </a:prstGeom>
        </p:spPr>
        <p:txBody>
          <a:bodyPr anchor="ctr">
            <a:normAutofit/>
          </a:bodyPr>
          <a:lstStyle>
            <a:lvl1pPr algn="l">
              <a:defRPr sz="7994" b="1" i="0">
                <a:solidFill>
                  <a:schemeClr val="tx1"/>
                </a:solidFill>
                <a:latin typeface="Lato" panose="020F0502020204030203" pitchFamily="34" charset="77"/>
                <a:ea typeface="Roboto" panose="02000000000000000000" pitchFamily="2" charset="0"/>
              </a:defRPr>
            </a:lvl1pPr>
          </a:lstStyle>
          <a:p>
            <a:r>
              <a:rPr lang="en-US"/>
              <a:t>Title</a:t>
            </a:r>
            <a:endParaRPr/>
          </a:p>
        </p:txBody>
      </p:sp>
      <p:sp>
        <p:nvSpPr>
          <p:cNvPr id="3" name="Rectangle 2">
            <a:extLst>
              <a:ext uri="{FF2B5EF4-FFF2-40B4-BE49-F238E27FC236}">
                <a16:creationId xmlns:a16="http://schemas.microsoft.com/office/drawing/2014/main" id="{633F9B46-A3E4-E0AC-D65C-BABC4DFE907E}"/>
              </a:ext>
            </a:extLst>
          </p:cNvPr>
          <p:cNvSpPr/>
          <p:nvPr userDrawn="1"/>
        </p:nvSpPr>
        <p:spPr>
          <a:xfrm>
            <a:off x="0" y="8742556"/>
            <a:ext cx="24384000" cy="49734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597"/>
          </a:p>
        </p:txBody>
      </p:sp>
    </p:spTree>
    <p:extLst>
      <p:ext uri="{BB962C8B-B14F-4D97-AF65-F5344CB8AC3E}">
        <p14:creationId xmlns:p14="http://schemas.microsoft.com/office/powerpoint/2010/main" val="3186549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658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59EE331-1D1F-F016-90D2-1533EA2813AB}"/>
              </a:ext>
            </a:extLst>
          </p:cNvPr>
          <p:cNvSpPr>
            <a:spLocks noGrp="1"/>
          </p:cNvSpPr>
          <p:nvPr>
            <p:ph type="body" sz="quarter" idx="10" hasCustomPrompt="1"/>
          </p:nvPr>
        </p:nvSpPr>
        <p:spPr>
          <a:xfrm>
            <a:off x="458117" y="457200"/>
            <a:ext cx="23467774" cy="1371600"/>
          </a:xfrm>
          <a:prstGeom prst="rect">
            <a:avLst/>
          </a:prstGeom>
        </p:spPr>
        <p:txBody>
          <a:bodyPr lIns="182880" tIns="91440" bIns="91440" anchor="ctr"/>
          <a:lstStyle>
            <a:lvl1pPr marL="0" indent="0">
              <a:lnSpc>
                <a:spcPct val="100000"/>
              </a:lnSpc>
              <a:spcBef>
                <a:spcPts val="0"/>
              </a:spcBef>
              <a:buNone/>
              <a:defRPr sz="5399" b="1" i="0">
                <a:solidFill>
                  <a:schemeClr val="bg1"/>
                </a:solidFill>
                <a:latin typeface="Lato" panose="020F0502020204030203" pitchFamily="34" charset="77"/>
                <a:cs typeface="Arial" panose="020B0604020202020204" pitchFamily="34" charset="0"/>
              </a:defRPr>
            </a:lvl1pPr>
          </a:lstStyle>
          <a:p>
            <a:pPr lvl="0"/>
            <a:r>
              <a:rPr lang="en-US"/>
              <a:t>Click to add title</a:t>
            </a:r>
          </a:p>
        </p:txBody>
      </p:sp>
    </p:spTree>
    <p:extLst>
      <p:ext uri="{BB962C8B-B14F-4D97-AF65-F5344CB8AC3E}">
        <p14:creationId xmlns:p14="http://schemas.microsoft.com/office/powerpoint/2010/main" val="223215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Subtitle">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59EE331-1D1F-F016-90D2-1533EA2813AB}"/>
              </a:ext>
            </a:extLst>
          </p:cNvPr>
          <p:cNvSpPr>
            <a:spLocks noGrp="1"/>
          </p:cNvSpPr>
          <p:nvPr>
            <p:ph type="body" sz="quarter" idx="10" hasCustomPrompt="1"/>
          </p:nvPr>
        </p:nvSpPr>
        <p:spPr>
          <a:xfrm>
            <a:off x="458115" y="457200"/>
            <a:ext cx="23467773" cy="1371600"/>
          </a:xfrm>
          <a:prstGeom prst="rect">
            <a:avLst/>
          </a:prstGeom>
        </p:spPr>
        <p:txBody>
          <a:bodyPr lIns="182880" tIns="0" bIns="0" anchor="ctr"/>
          <a:lstStyle>
            <a:lvl1pPr marL="0" indent="0">
              <a:lnSpc>
                <a:spcPct val="100000"/>
              </a:lnSpc>
              <a:spcBef>
                <a:spcPts val="0"/>
              </a:spcBef>
              <a:buNone/>
              <a:defRPr sz="5398" b="1" i="0">
                <a:solidFill>
                  <a:schemeClr val="bg1"/>
                </a:solidFill>
                <a:latin typeface="Lato" panose="020F0502020204030203" pitchFamily="34" charset="77"/>
                <a:cs typeface="Arial" panose="020B0604020202020204" pitchFamily="34" charset="0"/>
              </a:defRPr>
            </a:lvl1pPr>
          </a:lstStyle>
          <a:p>
            <a:pPr lvl="0"/>
            <a:r>
              <a:rPr lang="en-US"/>
              <a:t>Click to add title</a:t>
            </a:r>
          </a:p>
        </p:txBody>
      </p:sp>
      <p:sp>
        <p:nvSpPr>
          <p:cNvPr id="3" name="Text Placeholder 4">
            <a:extLst>
              <a:ext uri="{FF2B5EF4-FFF2-40B4-BE49-F238E27FC236}">
                <a16:creationId xmlns:a16="http://schemas.microsoft.com/office/drawing/2014/main" id="{1F229306-2292-4956-6269-65A0546A824E}"/>
              </a:ext>
            </a:extLst>
          </p:cNvPr>
          <p:cNvSpPr>
            <a:spLocks noGrp="1"/>
          </p:cNvSpPr>
          <p:nvPr>
            <p:ph type="body" sz="quarter" idx="11" hasCustomPrompt="1"/>
          </p:nvPr>
        </p:nvSpPr>
        <p:spPr>
          <a:xfrm>
            <a:off x="458115" y="1371600"/>
            <a:ext cx="23467773" cy="914400"/>
          </a:xfrm>
          <a:prstGeom prst="rect">
            <a:avLst/>
          </a:prstGeom>
        </p:spPr>
        <p:txBody>
          <a:bodyPr lIns="182880" tIns="91440" bIns="91440" anchor="ctr"/>
          <a:lstStyle>
            <a:lvl1pPr marL="0" indent="0">
              <a:lnSpc>
                <a:spcPct val="100000"/>
              </a:lnSpc>
              <a:spcBef>
                <a:spcPts val="0"/>
              </a:spcBef>
              <a:buNone/>
              <a:defRPr sz="3599" b="0" i="0">
                <a:solidFill>
                  <a:schemeClr val="bg1"/>
                </a:solidFill>
                <a:latin typeface="Lato Light" panose="020F0302020204030203" pitchFamily="34" charset="77"/>
                <a:cs typeface="Arial" panose="020B0604020202020204" pitchFamily="34" charset="0"/>
              </a:defRPr>
            </a:lvl1pPr>
          </a:lstStyle>
          <a:p>
            <a:pPr lvl="0"/>
            <a:r>
              <a:rPr lang="en-US"/>
              <a:t>Click to add subtitle</a:t>
            </a:r>
          </a:p>
        </p:txBody>
      </p:sp>
    </p:spTree>
    <p:extLst>
      <p:ext uri="{BB962C8B-B14F-4D97-AF65-F5344CB8AC3E}">
        <p14:creationId xmlns:p14="http://schemas.microsoft.com/office/powerpoint/2010/main" val="11613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59EE331-1D1F-F016-90D2-1533EA2813AB}"/>
              </a:ext>
            </a:extLst>
          </p:cNvPr>
          <p:cNvSpPr>
            <a:spLocks noGrp="1"/>
          </p:cNvSpPr>
          <p:nvPr>
            <p:ph type="body" sz="quarter" idx="10" hasCustomPrompt="1"/>
          </p:nvPr>
        </p:nvSpPr>
        <p:spPr>
          <a:xfrm>
            <a:off x="458114" y="457200"/>
            <a:ext cx="23463504" cy="1371600"/>
          </a:xfrm>
          <a:prstGeom prst="rect">
            <a:avLst/>
          </a:prstGeom>
        </p:spPr>
        <p:txBody>
          <a:bodyPr lIns="182880" tIns="91440" bIns="91440" anchor="ctr"/>
          <a:lstStyle>
            <a:lvl1pPr marL="0" indent="0">
              <a:lnSpc>
                <a:spcPct val="100000"/>
              </a:lnSpc>
              <a:spcBef>
                <a:spcPts val="0"/>
              </a:spcBef>
              <a:buNone/>
              <a:defRPr sz="5399" b="1" i="0">
                <a:solidFill>
                  <a:schemeClr val="bg1"/>
                </a:solidFill>
                <a:latin typeface="Lato" panose="020F0502020204030203" pitchFamily="34" charset="77"/>
                <a:cs typeface="Arial" panose="020B0604020202020204" pitchFamily="34" charset="0"/>
              </a:defRPr>
            </a:lvl1pPr>
          </a:lstStyle>
          <a:p>
            <a:pPr lvl="0"/>
            <a:r>
              <a:rPr lang="en-US"/>
              <a:t>Click to add title</a:t>
            </a:r>
          </a:p>
        </p:txBody>
      </p:sp>
      <p:sp>
        <p:nvSpPr>
          <p:cNvPr id="4" name="Text Placeholder 3">
            <a:extLst>
              <a:ext uri="{FF2B5EF4-FFF2-40B4-BE49-F238E27FC236}">
                <a16:creationId xmlns:a16="http://schemas.microsoft.com/office/drawing/2014/main" id="{3AB5C8B4-EDFC-DA1C-8C14-3ED514C5B5E8}"/>
              </a:ext>
            </a:extLst>
          </p:cNvPr>
          <p:cNvSpPr>
            <a:spLocks noGrp="1"/>
          </p:cNvSpPr>
          <p:nvPr>
            <p:ph type="body" sz="quarter" idx="11"/>
          </p:nvPr>
        </p:nvSpPr>
        <p:spPr>
          <a:xfrm>
            <a:off x="458115" y="2286000"/>
            <a:ext cx="23463504" cy="10058400"/>
          </a:xfrm>
          <a:prstGeom prst="rect">
            <a:avLst/>
          </a:prstGeom>
        </p:spPr>
        <p:txBody>
          <a:bodyPr lIns="182880"/>
          <a:lstStyle>
            <a:lvl1pPr marL="0" indent="0">
              <a:lnSpc>
                <a:spcPct val="120000"/>
              </a:lnSpc>
              <a:spcBef>
                <a:spcPts val="0"/>
              </a:spcBef>
              <a:spcAft>
                <a:spcPts val="2399"/>
              </a:spcAft>
              <a:buNone/>
              <a:defRPr sz="3999" b="0" i="0">
                <a:solidFill>
                  <a:schemeClr val="bg1"/>
                </a:solidFill>
                <a:latin typeface="Lato" panose="020F0502020204030203" pitchFamily="34" charset="77"/>
                <a:cs typeface="Arial" panose="020B0604020202020204" pitchFamily="34" charset="0"/>
              </a:defRPr>
            </a:lvl1pPr>
            <a:lvl2pPr>
              <a:lnSpc>
                <a:spcPct val="120000"/>
              </a:lnSpc>
              <a:spcBef>
                <a:spcPts val="0"/>
              </a:spcBef>
              <a:spcAft>
                <a:spcPts val="2399"/>
              </a:spcAft>
              <a:defRPr sz="3999" b="0" i="0">
                <a:solidFill>
                  <a:schemeClr val="bg1"/>
                </a:solidFill>
                <a:latin typeface="Lato" panose="020F0502020204030203" pitchFamily="34" charset="77"/>
                <a:cs typeface="Arial" panose="020B0604020202020204" pitchFamily="34" charset="0"/>
              </a:defRPr>
            </a:lvl2pPr>
            <a:lvl3pPr marL="2284289" indent="-456858">
              <a:lnSpc>
                <a:spcPct val="120000"/>
              </a:lnSpc>
              <a:spcBef>
                <a:spcPts val="0"/>
              </a:spcBef>
              <a:spcAft>
                <a:spcPts val="2399"/>
              </a:spcAft>
              <a:buFont typeface="Courier New" panose="02070309020205020404" pitchFamily="49" charset="0"/>
              <a:buChar char="o"/>
              <a:defRPr sz="3999" b="0" i="0">
                <a:solidFill>
                  <a:schemeClr val="bg1"/>
                </a:solidFill>
                <a:latin typeface="Lato" panose="020F0502020204030203" pitchFamily="34" charset="77"/>
                <a:cs typeface="Arial" panose="020B0604020202020204" pitchFamily="34" charset="0"/>
              </a:defRPr>
            </a:lvl3pPr>
            <a:lvl4pPr marL="3198000" indent="-456858">
              <a:lnSpc>
                <a:spcPct val="120000"/>
              </a:lnSpc>
              <a:spcBef>
                <a:spcPts val="0"/>
              </a:spcBef>
              <a:spcAft>
                <a:spcPts val="2399"/>
              </a:spcAft>
              <a:buFont typeface="Wingdings" pitchFamily="2" charset="2"/>
              <a:buChar char="§"/>
              <a:defRPr sz="3999" b="0" i="0">
                <a:solidFill>
                  <a:schemeClr val="bg1"/>
                </a:solidFill>
                <a:latin typeface="Lato" panose="020F0502020204030203" pitchFamily="34" charset="77"/>
                <a:cs typeface="Arial" panose="020B0604020202020204" pitchFamily="34" charset="0"/>
              </a:defRPr>
            </a:lvl4pPr>
            <a:lvl5pPr marL="4111716" indent="-456858">
              <a:lnSpc>
                <a:spcPct val="120000"/>
              </a:lnSpc>
              <a:spcBef>
                <a:spcPts val="0"/>
              </a:spcBef>
              <a:spcAft>
                <a:spcPts val="2399"/>
              </a:spcAft>
              <a:buFont typeface="Wingdings" pitchFamily="2" charset="2"/>
              <a:buChar char="q"/>
              <a:defRPr sz="3999" b="0" i="0">
                <a:solidFill>
                  <a:schemeClr val="bg1"/>
                </a:solidFill>
                <a:latin typeface="Lato" panose="020F0502020204030203" pitchFamily="34" charset="77"/>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Subtitle and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59EE331-1D1F-F016-90D2-1533EA2813AB}"/>
              </a:ext>
            </a:extLst>
          </p:cNvPr>
          <p:cNvSpPr>
            <a:spLocks noGrp="1"/>
          </p:cNvSpPr>
          <p:nvPr>
            <p:ph type="body" sz="quarter" idx="10" hasCustomPrompt="1"/>
          </p:nvPr>
        </p:nvSpPr>
        <p:spPr>
          <a:xfrm>
            <a:off x="458115" y="457200"/>
            <a:ext cx="23467773" cy="1371600"/>
          </a:xfrm>
          <a:prstGeom prst="rect">
            <a:avLst/>
          </a:prstGeom>
        </p:spPr>
        <p:txBody>
          <a:bodyPr lIns="182880" tIns="0" bIns="0" anchor="ctr"/>
          <a:lstStyle>
            <a:lvl1pPr marL="0" indent="0">
              <a:lnSpc>
                <a:spcPct val="100000"/>
              </a:lnSpc>
              <a:spcBef>
                <a:spcPts val="0"/>
              </a:spcBef>
              <a:buNone/>
              <a:defRPr sz="5398" b="1" i="0">
                <a:solidFill>
                  <a:schemeClr val="bg1"/>
                </a:solidFill>
                <a:latin typeface="Lato" panose="020F0502020204030203" pitchFamily="34" charset="77"/>
                <a:cs typeface="Arial" panose="020B0604020202020204" pitchFamily="34" charset="0"/>
              </a:defRPr>
            </a:lvl1pPr>
          </a:lstStyle>
          <a:p>
            <a:pPr lvl="0"/>
            <a:r>
              <a:rPr lang="en-US"/>
              <a:t>Click to add title</a:t>
            </a:r>
          </a:p>
        </p:txBody>
      </p:sp>
      <p:sp>
        <p:nvSpPr>
          <p:cNvPr id="3" name="Text Placeholder 4">
            <a:extLst>
              <a:ext uri="{FF2B5EF4-FFF2-40B4-BE49-F238E27FC236}">
                <a16:creationId xmlns:a16="http://schemas.microsoft.com/office/drawing/2014/main" id="{1F229306-2292-4956-6269-65A0546A824E}"/>
              </a:ext>
            </a:extLst>
          </p:cNvPr>
          <p:cNvSpPr>
            <a:spLocks noGrp="1"/>
          </p:cNvSpPr>
          <p:nvPr>
            <p:ph type="body" sz="quarter" idx="11" hasCustomPrompt="1"/>
          </p:nvPr>
        </p:nvSpPr>
        <p:spPr>
          <a:xfrm>
            <a:off x="458115" y="1371600"/>
            <a:ext cx="23467773" cy="914400"/>
          </a:xfrm>
          <a:prstGeom prst="rect">
            <a:avLst/>
          </a:prstGeom>
        </p:spPr>
        <p:txBody>
          <a:bodyPr lIns="182880" tIns="91440" bIns="91440" anchor="ctr"/>
          <a:lstStyle>
            <a:lvl1pPr marL="0" indent="0">
              <a:lnSpc>
                <a:spcPct val="100000"/>
              </a:lnSpc>
              <a:spcBef>
                <a:spcPts val="0"/>
              </a:spcBef>
              <a:buNone/>
              <a:defRPr sz="3599" b="0" i="0">
                <a:solidFill>
                  <a:schemeClr val="bg1"/>
                </a:solidFill>
                <a:latin typeface="Lato Light" panose="020F0302020204030203" pitchFamily="34" charset="77"/>
                <a:cs typeface="Arial" panose="020B0604020202020204" pitchFamily="34" charset="0"/>
              </a:defRPr>
            </a:lvl1pPr>
          </a:lstStyle>
          <a:p>
            <a:pPr lvl="0"/>
            <a:r>
              <a:rPr lang="en-US"/>
              <a:t>Click to add subtitle</a:t>
            </a:r>
          </a:p>
        </p:txBody>
      </p:sp>
      <p:sp>
        <p:nvSpPr>
          <p:cNvPr id="6" name="Text Placeholder 3">
            <a:extLst>
              <a:ext uri="{FF2B5EF4-FFF2-40B4-BE49-F238E27FC236}">
                <a16:creationId xmlns:a16="http://schemas.microsoft.com/office/drawing/2014/main" id="{214DB2D1-0679-5A00-E6DA-5B237DBF37F0}"/>
              </a:ext>
            </a:extLst>
          </p:cNvPr>
          <p:cNvSpPr>
            <a:spLocks noGrp="1"/>
          </p:cNvSpPr>
          <p:nvPr>
            <p:ph type="body" sz="quarter" idx="12"/>
          </p:nvPr>
        </p:nvSpPr>
        <p:spPr>
          <a:xfrm>
            <a:off x="458116" y="2286000"/>
            <a:ext cx="23467773" cy="10312400"/>
          </a:xfrm>
          <a:prstGeom prst="rect">
            <a:avLst/>
          </a:prstGeom>
        </p:spPr>
        <p:txBody>
          <a:bodyPr lIns="182880"/>
          <a:lstStyle>
            <a:lvl1pPr marL="0" indent="0">
              <a:lnSpc>
                <a:spcPct val="120000"/>
              </a:lnSpc>
              <a:spcBef>
                <a:spcPts val="0"/>
              </a:spcBef>
              <a:spcAft>
                <a:spcPts val="2399"/>
              </a:spcAft>
              <a:buNone/>
              <a:defRPr sz="3999" b="0" i="0">
                <a:solidFill>
                  <a:schemeClr val="bg1"/>
                </a:solidFill>
                <a:latin typeface="Lato" panose="020F0502020204030203" pitchFamily="34" charset="77"/>
                <a:cs typeface="Arial" panose="020B0604020202020204" pitchFamily="34" charset="0"/>
              </a:defRPr>
            </a:lvl1pPr>
            <a:lvl2pPr>
              <a:lnSpc>
                <a:spcPct val="120000"/>
              </a:lnSpc>
              <a:spcBef>
                <a:spcPts val="0"/>
              </a:spcBef>
              <a:spcAft>
                <a:spcPts val="2399"/>
              </a:spcAft>
              <a:defRPr sz="3999" b="0" i="0">
                <a:solidFill>
                  <a:schemeClr val="bg1"/>
                </a:solidFill>
                <a:latin typeface="Lato" panose="020F0502020204030203" pitchFamily="34" charset="77"/>
                <a:cs typeface="Arial" panose="020B0604020202020204" pitchFamily="34" charset="0"/>
              </a:defRPr>
            </a:lvl2pPr>
            <a:lvl3pPr marL="2284743" indent="-456949">
              <a:lnSpc>
                <a:spcPct val="120000"/>
              </a:lnSpc>
              <a:spcBef>
                <a:spcPts val="0"/>
              </a:spcBef>
              <a:spcAft>
                <a:spcPts val="2399"/>
              </a:spcAft>
              <a:buFont typeface="Courier New" panose="02070309020205020404" pitchFamily="49" charset="0"/>
              <a:buChar char="o"/>
              <a:defRPr sz="3999" b="0" i="0">
                <a:solidFill>
                  <a:schemeClr val="bg1"/>
                </a:solidFill>
                <a:latin typeface="Lato" panose="020F0502020204030203" pitchFamily="34" charset="77"/>
                <a:cs typeface="Arial" panose="020B0604020202020204" pitchFamily="34" charset="0"/>
              </a:defRPr>
            </a:lvl3pPr>
            <a:lvl4pPr marL="3198640" indent="-456949">
              <a:lnSpc>
                <a:spcPct val="120000"/>
              </a:lnSpc>
              <a:spcBef>
                <a:spcPts val="0"/>
              </a:spcBef>
              <a:spcAft>
                <a:spcPts val="2399"/>
              </a:spcAft>
              <a:buFont typeface="Wingdings" pitchFamily="2" charset="2"/>
              <a:buChar char="§"/>
              <a:defRPr sz="3999" b="0" i="0">
                <a:solidFill>
                  <a:schemeClr val="bg1"/>
                </a:solidFill>
                <a:latin typeface="Lato" panose="020F0502020204030203" pitchFamily="34" charset="77"/>
                <a:cs typeface="Arial" panose="020B0604020202020204" pitchFamily="34" charset="0"/>
              </a:defRPr>
            </a:lvl4pPr>
            <a:lvl5pPr marL="4112537" indent="-456949">
              <a:lnSpc>
                <a:spcPct val="120000"/>
              </a:lnSpc>
              <a:spcBef>
                <a:spcPts val="0"/>
              </a:spcBef>
              <a:spcAft>
                <a:spcPts val="2399"/>
              </a:spcAft>
              <a:buFont typeface="Wingdings" pitchFamily="2" charset="2"/>
              <a:buChar char="q"/>
              <a:defRPr sz="3999" b="0" i="0">
                <a:solidFill>
                  <a:schemeClr val="bg1"/>
                </a:solidFill>
                <a:latin typeface="Lato" panose="020F0502020204030203" pitchFamily="34" charset="77"/>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6801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slid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566ECC-20A7-6D22-4747-43A108747BFC}"/>
              </a:ext>
            </a:extLst>
          </p:cNvPr>
          <p:cNvSpPr txBox="1"/>
          <p:nvPr userDrawn="1"/>
        </p:nvSpPr>
        <p:spPr>
          <a:xfrm>
            <a:off x="9225511" y="6073170"/>
            <a:ext cx="5932977" cy="1569660"/>
          </a:xfrm>
          <a:prstGeom prst="rect">
            <a:avLst/>
          </a:prstGeom>
          <a:noFill/>
        </p:spPr>
        <p:txBody>
          <a:bodyPr wrap="none" rtlCol="0">
            <a:spAutoFit/>
          </a:bodyPr>
          <a:lstStyle/>
          <a:p>
            <a:r>
              <a:rPr lang="en-US" sz="9600">
                <a:solidFill>
                  <a:schemeClr val="bg1"/>
                </a:solidFill>
                <a:latin typeface="Lato" panose="020F0502020204030203" pitchFamily="34" charset="77"/>
                <a:cs typeface="Arial" panose="020B0604020202020204" pitchFamily="34" charset="0"/>
              </a:rPr>
              <a:t>Thank you</a:t>
            </a:r>
          </a:p>
        </p:txBody>
      </p:sp>
    </p:spTree>
    <p:extLst>
      <p:ext uri="{BB962C8B-B14F-4D97-AF65-F5344CB8AC3E}">
        <p14:creationId xmlns:p14="http://schemas.microsoft.com/office/powerpoint/2010/main" val="489119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sp>
        <p:nvSpPr>
          <p:cNvPr id="7" name="Title Text">
            <a:extLst>
              <a:ext uri="{FF2B5EF4-FFF2-40B4-BE49-F238E27FC236}">
                <a16:creationId xmlns:a16="http://schemas.microsoft.com/office/drawing/2014/main" id="{14EF0C9A-1083-4E30-9B02-2798751D4BC0}"/>
              </a:ext>
            </a:extLst>
          </p:cNvPr>
          <p:cNvSpPr txBox="1">
            <a:spLocks noGrp="1"/>
          </p:cNvSpPr>
          <p:nvPr>
            <p:ph type="title" hasCustomPrompt="1"/>
          </p:nvPr>
        </p:nvSpPr>
        <p:spPr>
          <a:xfrm>
            <a:off x="1625602" y="4533900"/>
            <a:ext cx="21132800" cy="4648200"/>
          </a:xfrm>
          <a:prstGeom prst="rect">
            <a:avLst/>
          </a:prstGeom>
        </p:spPr>
        <p:txBody>
          <a:bodyPr anchor="ctr">
            <a:normAutofit/>
          </a:bodyPr>
          <a:lstStyle>
            <a:lvl1pPr algn="l">
              <a:defRPr sz="7996" b="1" i="0">
                <a:solidFill>
                  <a:schemeClr val="bg1"/>
                </a:solidFill>
                <a:latin typeface="Lato" panose="020F0502020204030203" pitchFamily="34" charset="77"/>
                <a:ea typeface="Roboto" panose="02000000000000000000" pitchFamily="2" charset="0"/>
                <a:cs typeface="Arial" panose="020B0604020202020204" pitchFamily="34" charset="0"/>
              </a:defRPr>
            </a:lvl1pPr>
          </a:lstStyle>
          <a:p>
            <a:r>
              <a:rPr lang="en-US"/>
              <a:t>Section</a:t>
            </a:r>
            <a:r>
              <a:t> Text</a:t>
            </a:r>
          </a:p>
        </p:txBody>
      </p:sp>
      <p:pic>
        <p:nvPicPr>
          <p:cNvPr id="3" name="Picture 2">
            <a:extLst>
              <a:ext uri="{FF2B5EF4-FFF2-40B4-BE49-F238E27FC236}">
                <a16:creationId xmlns:a16="http://schemas.microsoft.com/office/drawing/2014/main" id="{770D01B2-4117-1F90-1B6A-3AD04E47BAED}"/>
              </a:ext>
            </a:extLst>
          </p:cNvPr>
          <p:cNvPicPr>
            <a:picLocks noChangeAspect="1"/>
          </p:cNvPicPr>
          <p:nvPr userDrawn="1"/>
        </p:nvPicPr>
        <p:blipFill>
          <a:blip r:embed="rId2" cstate="screen">
            <a:alphaModFix amt="41000"/>
            <a:extLst>
              <a:ext uri="{28A0092B-C50C-407E-A947-70E740481C1C}">
                <a14:useLocalDpi xmlns:a14="http://schemas.microsoft.com/office/drawing/2010/main"/>
              </a:ext>
            </a:extLst>
          </a:blip>
          <a:srcRect/>
          <a:stretch/>
        </p:blipFill>
        <p:spPr>
          <a:xfrm>
            <a:off x="21550331" y="12729411"/>
            <a:ext cx="2571746" cy="721894"/>
          </a:xfrm>
          <a:prstGeom prst="rect">
            <a:avLst/>
          </a:prstGeom>
        </p:spPr>
      </p:pic>
      <p:sp>
        <p:nvSpPr>
          <p:cNvPr id="4" name="TextBox 17">
            <a:extLst>
              <a:ext uri="{FF2B5EF4-FFF2-40B4-BE49-F238E27FC236}">
                <a16:creationId xmlns:a16="http://schemas.microsoft.com/office/drawing/2014/main" id="{6C9F7A1B-C1AC-BBBE-C93E-D760335CCFDC}"/>
              </a:ext>
            </a:extLst>
          </p:cNvPr>
          <p:cNvSpPr txBox="1"/>
          <p:nvPr userDrawn="1"/>
        </p:nvSpPr>
        <p:spPr>
          <a:xfrm>
            <a:off x="574494" y="12981162"/>
            <a:ext cx="5854978" cy="36901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6" rIns="45696">
            <a:spAutoFit/>
          </a:bodyPr>
          <a:lstStyle>
            <a:lvl1pPr algn="l">
              <a:defRPr sz="1800">
                <a:solidFill>
                  <a:srgbClr val="A7A7A7"/>
                </a:solidFill>
              </a:defRPr>
            </a:lvl1pPr>
          </a:lstStyle>
          <a:p>
            <a:pPr marL="0" marR="0" lvl="0" indent="0" algn="l" defTabSz="825046" rtl="0" eaLnBrk="1" fontAlgn="auto" latinLnBrk="0" hangingPunct="0">
              <a:lnSpc>
                <a:spcPct val="100000"/>
              </a:lnSpc>
              <a:spcBef>
                <a:spcPts val="0"/>
              </a:spcBef>
              <a:spcAft>
                <a:spcPts val="0"/>
              </a:spcAft>
              <a:buClrTx/>
              <a:buSzTx/>
              <a:buFontTx/>
              <a:buNone/>
              <a:tabLst/>
              <a:defRPr/>
            </a:pPr>
            <a:r>
              <a:rPr kumimoji="0" sz="1798" b="0" i="0" u="none" strike="noStrike" kern="0" cap="none" spc="0" normalizeH="0" baseline="0" noProof="0">
                <a:ln>
                  <a:noFill/>
                </a:ln>
                <a:solidFill>
                  <a:schemeClr val="bg1">
                    <a:alpha val="57000"/>
                  </a:schemeClr>
                </a:solidFill>
                <a:effectLst/>
                <a:uLnTx/>
                <a:uFillTx/>
                <a:latin typeface="Lato Light" panose="020F0302020204030203" pitchFamily="34" charset="77"/>
                <a:ea typeface="+mn-ea"/>
                <a:cs typeface="Poppins Light" pitchFamily="2" charset="77"/>
                <a:sym typeface="Roboto"/>
              </a:rPr>
              <a:t>Impetus Proprietary and Confidential</a:t>
            </a:r>
          </a:p>
        </p:txBody>
      </p:sp>
    </p:spTree>
    <p:extLst>
      <p:ext uri="{BB962C8B-B14F-4D97-AF65-F5344CB8AC3E}">
        <p14:creationId xmlns:p14="http://schemas.microsoft.com/office/powerpoint/2010/main" val="1683399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Title — Subtitle">
    <p:spTree>
      <p:nvGrpSpPr>
        <p:cNvPr id="1" name=""/>
        <p:cNvGrpSpPr/>
        <p:nvPr/>
      </p:nvGrpSpPr>
      <p:grpSpPr>
        <a:xfrm>
          <a:off x="0" y="0"/>
          <a:ext cx="0" cy="0"/>
          <a:chOff x="0" y="0"/>
          <a:chExt cx="0" cy="0"/>
        </a:xfrm>
      </p:grpSpPr>
      <p:sp>
        <p:nvSpPr>
          <p:cNvPr id="21" name="Title Text"/>
          <p:cNvSpPr txBox="1">
            <a:spLocks noGrp="1"/>
          </p:cNvSpPr>
          <p:nvPr>
            <p:ph type="title"/>
          </p:nvPr>
        </p:nvSpPr>
        <p:spPr>
          <a:xfrm>
            <a:off x="1625600" y="2298700"/>
            <a:ext cx="21132800" cy="4648200"/>
          </a:xfrm>
          <a:prstGeom prst="rect">
            <a:avLst/>
          </a:prstGeom>
        </p:spPr>
        <p:txBody>
          <a:bodyPr anchor="b"/>
          <a:lstStyle/>
          <a:p>
            <a:r>
              <a:t>Title Text</a:t>
            </a:r>
          </a:p>
        </p:txBody>
      </p:sp>
      <p:sp>
        <p:nvSpPr>
          <p:cNvPr id="22" name="Body Level One…"/>
          <p:cNvSpPr txBox="1">
            <a:spLocks noGrp="1"/>
          </p:cNvSpPr>
          <p:nvPr>
            <p:ph type="body" sz="half" idx="1"/>
          </p:nvPr>
        </p:nvSpPr>
        <p:spPr>
          <a:xfrm>
            <a:off x="1625600" y="7073900"/>
            <a:ext cx="21132800" cy="4112506"/>
          </a:xfrm>
          <a:prstGeom prst="rect">
            <a:avLst/>
          </a:prstGeom>
        </p:spPr>
        <p:txBody>
          <a:bodyPr/>
          <a:lstStyle>
            <a:lvl1pPr>
              <a:lnSpc>
                <a:spcPct val="100000"/>
              </a:lnSpc>
              <a:spcBef>
                <a:spcPts val="0"/>
              </a:spcBef>
              <a:defRPr sz="5400">
                <a:solidFill>
                  <a:schemeClr val="bg1">
                    <a:lumMod val="85000"/>
                  </a:schemeClr>
                </a:solidFill>
              </a:defRPr>
            </a:lvl1pPr>
            <a:lvl2pPr marL="0" indent="0">
              <a:lnSpc>
                <a:spcPct val="100000"/>
              </a:lnSpc>
              <a:spcBef>
                <a:spcPts val="0"/>
              </a:spcBef>
              <a:buSzTx/>
              <a:buNone/>
              <a:defRPr sz="5400">
                <a:solidFill>
                  <a:schemeClr val="bg1">
                    <a:lumMod val="85000"/>
                  </a:schemeClr>
                </a:solidFill>
              </a:defRPr>
            </a:lvl2pPr>
            <a:lvl3pPr marL="0" indent="0">
              <a:lnSpc>
                <a:spcPct val="100000"/>
              </a:lnSpc>
              <a:spcBef>
                <a:spcPts val="0"/>
              </a:spcBef>
              <a:buSzTx/>
              <a:buNone/>
              <a:defRPr sz="5400">
                <a:solidFill>
                  <a:schemeClr val="bg1">
                    <a:lumMod val="85000"/>
                  </a:schemeClr>
                </a:solidFill>
              </a:defRPr>
            </a:lvl3pPr>
            <a:lvl4pPr marL="0" indent="0">
              <a:lnSpc>
                <a:spcPct val="100000"/>
              </a:lnSpc>
              <a:spcBef>
                <a:spcPts val="0"/>
              </a:spcBef>
              <a:buSzTx/>
              <a:buNone/>
              <a:defRPr sz="5400">
                <a:solidFill>
                  <a:schemeClr val="bg1">
                    <a:lumMod val="85000"/>
                  </a:schemeClr>
                </a:solidFill>
              </a:defRPr>
            </a:lvl4pPr>
            <a:lvl5pPr marL="0" indent="0">
              <a:lnSpc>
                <a:spcPct val="100000"/>
              </a:lnSpc>
              <a:spcBef>
                <a:spcPts val="0"/>
              </a:spcBef>
              <a:buSzTx/>
              <a:buNone/>
              <a:defRPr sz="5400">
                <a:solidFill>
                  <a:schemeClr val="bg1">
                    <a:lumMod val="85000"/>
                  </a:schemeClr>
                </a:solidFill>
              </a:defRPr>
            </a:lvl5pPr>
          </a:lstStyle>
          <a:p>
            <a:r>
              <a:t>Body Level One</a:t>
            </a:r>
          </a:p>
          <a:p>
            <a:pPr lvl="1"/>
            <a:r>
              <a:t>Body Level Two</a:t>
            </a:r>
          </a:p>
          <a:p>
            <a:pPr lvl="2"/>
            <a:r>
              <a:t>Body Level Three</a:t>
            </a:r>
          </a:p>
          <a:p>
            <a:pPr lvl="3"/>
            <a:r>
              <a:t>Body Level Four</a:t>
            </a:r>
          </a:p>
          <a:p>
            <a:pPr lvl="4"/>
            <a:r>
              <a:t>Body Level Five</a:t>
            </a:r>
          </a:p>
        </p:txBody>
      </p:sp>
      <p:sp>
        <p:nvSpPr>
          <p:cNvPr id="5" name="Slide Number Placeholder 6">
            <a:extLst>
              <a:ext uri="{FF2B5EF4-FFF2-40B4-BE49-F238E27FC236}">
                <a16:creationId xmlns:a16="http://schemas.microsoft.com/office/drawing/2014/main" id="{BC3CB944-300D-7F4D-ABB5-B787FB948C1A}"/>
              </a:ext>
            </a:extLst>
          </p:cNvPr>
          <p:cNvSpPr>
            <a:spLocks noGrp="1"/>
          </p:cNvSpPr>
          <p:nvPr>
            <p:ph type="sldNum" sz="quarter" idx="4"/>
          </p:nvPr>
        </p:nvSpPr>
        <p:spPr>
          <a:xfrm>
            <a:off x="9448800" y="12727917"/>
            <a:ext cx="5486400" cy="730250"/>
          </a:xfrm>
          <a:prstGeom prst="rect">
            <a:avLst/>
          </a:prstGeom>
        </p:spPr>
        <p:txBody>
          <a:bodyPr vert="horz" lIns="91440" tIns="45720" rIns="91440" bIns="45720" rtlCol="0" anchor="ctr"/>
          <a:lstStyle>
            <a:lvl1pPr algn="ctr">
              <a:defRPr sz="2800" b="0" i="0">
                <a:solidFill>
                  <a:schemeClr val="bg1"/>
                </a:solidFill>
              </a:defRPr>
            </a:lvl1pPr>
          </a:lstStyle>
          <a:p>
            <a:fld id="{8DC54A33-A41F-1448-B98F-72ACA2661604}" type="slidenum">
              <a:rPr lang="en-US" smtClean="0"/>
              <a:pPr/>
              <a:t>‹#›</a:t>
            </a:fld>
            <a:endParaRPr lang="en-US"/>
          </a:p>
        </p:txBody>
      </p:sp>
    </p:spTree>
    <p:extLst>
      <p:ext uri="{BB962C8B-B14F-4D97-AF65-F5344CB8AC3E}">
        <p14:creationId xmlns:p14="http://schemas.microsoft.com/office/powerpoint/2010/main" val="3419545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2C2C2C"/>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5473094-BA64-0CB8-6FAB-84B09E67028C}"/>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a:stretch/>
        </p:blipFill>
        <p:spPr>
          <a:xfrm>
            <a:off x="21550330" y="12729413"/>
            <a:ext cx="2571747" cy="721894"/>
          </a:xfrm>
          <a:prstGeom prst="rect">
            <a:avLst/>
          </a:prstGeom>
        </p:spPr>
      </p:pic>
      <p:sp>
        <p:nvSpPr>
          <p:cNvPr id="3" name="TextBox 17">
            <a:extLst>
              <a:ext uri="{FF2B5EF4-FFF2-40B4-BE49-F238E27FC236}">
                <a16:creationId xmlns:a16="http://schemas.microsoft.com/office/drawing/2014/main" id="{16E1D8DD-95D2-2328-BA90-9AC4FC7A598B}"/>
              </a:ext>
            </a:extLst>
          </p:cNvPr>
          <p:cNvSpPr txBox="1"/>
          <p:nvPr userDrawn="1"/>
        </p:nvSpPr>
        <p:spPr>
          <a:xfrm>
            <a:off x="574494" y="12981162"/>
            <a:ext cx="5854978" cy="36901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6" rIns="45696">
            <a:spAutoFit/>
          </a:bodyPr>
          <a:lstStyle>
            <a:lvl1pPr algn="l">
              <a:defRPr sz="1800">
                <a:solidFill>
                  <a:srgbClr val="A7A7A7"/>
                </a:solidFill>
              </a:defRPr>
            </a:lvl1pPr>
          </a:lstStyle>
          <a:p>
            <a:pPr marL="0" marR="0" lvl="0" indent="0" algn="l" defTabSz="825046" rtl="0" eaLnBrk="1" fontAlgn="auto" latinLnBrk="0" hangingPunct="0">
              <a:lnSpc>
                <a:spcPct val="100000"/>
              </a:lnSpc>
              <a:spcBef>
                <a:spcPts val="0"/>
              </a:spcBef>
              <a:spcAft>
                <a:spcPts val="0"/>
              </a:spcAft>
              <a:buClrTx/>
              <a:buSzTx/>
              <a:buFontTx/>
              <a:buNone/>
              <a:tabLst/>
              <a:defRPr/>
            </a:pPr>
            <a:r>
              <a:rPr kumimoji="0" sz="1798" b="0" i="0" u="none" strike="noStrike" kern="0" cap="none" spc="0" normalizeH="0" baseline="0" noProof="0">
                <a:ln>
                  <a:noFill/>
                </a:ln>
                <a:solidFill>
                  <a:schemeClr val="bg1">
                    <a:lumMod val="75000"/>
                    <a:alpha val="57000"/>
                  </a:schemeClr>
                </a:solidFill>
                <a:effectLst/>
                <a:uLnTx/>
                <a:uFillTx/>
                <a:latin typeface="Lato Light" panose="020F0302020204030203" pitchFamily="34" charset="77"/>
                <a:ea typeface="+mn-ea"/>
                <a:cs typeface="Poppins Light" pitchFamily="2" charset="77"/>
                <a:sym typeface="Roboto"/>
              </a:rPr>
              <a:t>Impetus Proprietary and Confidential</a:t>
            </a:r>
          </a:p>
        </p:txBody>
      </p:sp>
    </p:spTree>
    <p:extLst>
      <p:ext uri="{BB962C8B-B14F-4D97-AF65-F5344CB8AC3E}">
        <p14:creationId xmlns:p14="http://schemas.microsoft.com/office/powerpoint/2010/main" val="388912628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827887" rtl="0" eaLnBrk="1" latinLnBrk="0" hangingPunct="1">
        <a:lnSpc>
          <a:spcPct val="90000"/>
        </a:lnSpc>
        <a:spcBef>
          <a:spcPct val="0"/>
        </a:spcBef>
        <a:buNone/>
        <a:defRPr sz="8796" kern="1200">
          <a:solidFill>
            <a:schemeClr val="tx1"/>
          </a:solidFill>
          <a:latin typeface="+mj-lt"/>
          <a:ea typeface="+mj-ea"/>
          <a:cs typeface="+mj-cs"/>
        </a:defRPr>
      </a:lvl1pPr>
    </p:titleStyle>
    <p:bodyStyle>
      <a:lvl1pPr marL="456972" indent="-456972" algn="l" defTabSz="1827887" rtl="0" eaLnBrk="1" latinLnBrk="0" hangingPunct="1">
        <a:lnSpc>
          <a:spcPct val="90000"/>
        </a:lnSpc>
        <a:spcBef>
          <a:spcPts val="2000"/>
        </a:spcBef>
        <a:buFont typeface="Arial" panose="020B0604020202020204" pitchFamily="34" charset="0"/>
        <a:buChar char="•"/>
        <a:defRPr sz="5599" kern="1200">
          <a:solidFill>
            <a:schemeClr val="tx1"/>
          </a:solidFill>
          <a:latin typeface="+mn-lt"/>
          <a:ea typeface="+mn-ea"/>
          <a:cs typeface="+mn-cs"/>
        </a:defRPr>
      </a:lvl1pPr>
      <a:lvl2pPr marL="1370915" indent="-456972" algn="l" defTabSz="1827887"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4859" indent="-456972" algn="l" defTabSz="1827887"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8800"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2744"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6687"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0628"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4572"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68515" indent="-456972" algn="l" defTabSz="1827887"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p:bodyStyle>
    <p:otherStyle>
      <a:defPPr>
        <a:defRPr lang="en-US"/>
      </a:defPPr>
      <a:lvl1pPr marL="0" algn="l" defTabSz="1827887" rtl="0" eaLnBrk="1" latinLnBrk="0" hangingPunct="1">
        <a:defRPr sz="3599" kern="1200">
          <a:solidFill>
            <a:schemeClr val="tx1"/>
          </a:solidFill>
          <a:latin typeface="+mn-lt"/>
          <a:ea typeface="+mn-ea"/>
          <a:cs typeface="+mn-cs"/>
        </a:defRPr>
      </a:lvl1pPr>
      <a:lvl2pPr marL="913943" algn="l" defTabSz="1827887" rtl="0" eaLnBrk="1" latinLnBrk="0" hangingPunct="1">
        <a:defRPr sz="3599" kern="1200">
          <a:solidFill>
            <a:schemeClr val="tx1"/>
          </a:solidFill>
          <a:latin typeface="+mn-lt"/>
          <a:ea typeface="+mn-ea"/>
          <a:cs typeface="+mn-cs"/>
        </a:defRPr>
      </a:lvl2pPr>
      <a:lvl3pPr marL="1827887" algn="l" defTabSz="1827887" rtl="0" eaLnBrk="1" latinLnBrk="0" hangingPunct="1">
        <a:defRPr sz="3599" kern="1200">
          <a:solidFill>
            <a:schemeClr val="tx1"/>
          </a:solidFill>
          <a:latin typeface="+mn-lt"/>
          <a:ea typeface="+mn-ea"/>
          <a:cs typeface="+mn-cs"/>
        </a:defRPr>
      </a:lvl3pPr>
      <a:lvl4pPr marL="2741828" algn="l" defTabSz="1827887" rtl="0" eaLnBrk="1" latinLnBrk="0" hangingPunct="1">
        <a:defRPr sz="3599" kern="1200">
          <a:solidFill>
            <a:schemeClr val="tx1"/>
          </a:solidFill>
          <a:latin typeface="+mn-lt"/>
          <a:ea typeface="+mn-ea"/>
          <a:cs typeface="+mn-cs"/>
        </a:defRPr>
      </a:lvl4pPr>
      <a:lvl5pPr marL="3655772" algn="l" defTabSz="1827887" rtl="0" eaLnBrk="1" latinLnBrk="0" hangingPunct="1">
        <a:defRPr sz="3599" kern="1200">
          <a:solidFill>
            <a:schemeClr val="tx1"/>
          </a:solidFill>
          <a:latin typeface="+mn-lt"/>
          <a:ea typeface="+mn-ea"/>
          <a:cs typeface="+mn-cs"/>
        </a:defRPr>
      </a:lvl5pPr>
      <a:lvl6pPr marL="4569715" algn="l" defTabSz="1827887" rtl="0" eaLnBrk="1" latinLnBrk="0" hangingPunct="1">
        <a:defRPr sz="3599" kern="1200">
          <a:solidFill>
            <a:schemeClr val="tx1"/>
          </a:solidFill>
          <a:latin typeface="+mn-lt"/>
          <a:ea typeface="+mn-ea"/>
          <a:cs typeface="+mn-cs"/>
        </a:defRPr>
      </a:lvl6pPr>
      <a:lvl7pPr marL="5483657" algn="l" defTabSz="1827887" rtl="0" eaLnBrk="1" latinLnBrk="0" hangingPunct="1">
        <a:defRPr sz="3599" kern="1200">
          <a:solidFill>
            <a:schemeClr val="tx1"/>
          </a:solidFill>
          <a:latin typeface="+mn-lt"/>
          <a:ea typeface="+mn-ea"/>
          <a:cs typeface="+mn-cs"/>
        </a:defRPr>
      </a:lvl7pPr>
      <a:lvl8pPr marL="6397600" algn="l" defTabSz="1827887" rtl="0" eaLnBrk="1" latinLnBrk="0" hangingPunct="1">
        <a:defRPr sz="3599" kern="1200">
          <a:solidFill>
            <a:schemeClr val="tx1"/>
          </a:solidFill>
          <a:latin typeface="+mn-lt"/>
          <a:ea typeface="+mn-ea"/>
          <a:cs typeface="+mn-cs"/>
        </a:defRPr>
      </a:lvl8pPr>
      <a:lvl9pPr marL="7311544" algn="l" defTabSz="1827887" rtl="0" eaLnBrk="1" latinLnBrk="0" hangingPunct="1">
        <a:defRPr sz="35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2">
          <p15:clr>
            <a:srgbClr val="F26B43"/>
          </p15:clr>
        </p15:guide>
        <p15:guide id="2" pos="30132">
          <p15:clr>
            <a:srgbClr val="F26B43"/>
          </p15:clr>
        </p15:guide>
        <p15:guide id="3" orient="horz" pos="576">
          <p15:clr>
            <a:srgbClr val="F26B43"/>
          </p15:clr>
        </p15:guide>
        <p15:guide id="4" orient="horz" pos="1670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3E117-774E-9477-DC93-76AC01535885}"/>
              </a:ext>
            </a:extLst>
          </p:cNvPr>
          <p:cNvSpPr>
            <a:spLocks noGrp="1"/>
          </p:cNvSpPr>
          <p:nvPr>
            <p:ph type="title"/>
          </p:nvPr>
        </p:nvSpPr>
        <p:spPr/>
        <p:txBody>
          <a:bodyPr/>
          <a:lstStyle/>
          <a:p>
            <a:r>
              <a:rPr lang="en-US" dirty="0">
                <a:solidFill>
                  <a:schemeClr val="bg1"/>
                </a:solidFill>
              </a:rPr>
              <a:t>AWS &amp; Impetus     GenAI Hackathon</a:t>
            </a:r>
          </a:p>
        </p:txBody>
      </p:sp>
      <p:cxnSp>
        <p:nvCxnSpPr>
          <p:cNvPr id="5" name="Straight Connector 4">
            <a:extLst>
              <a:ext uri="{FF2B5EF4-FFF2-40B4-BE49-F238E27FC236}">
                <a16:creationId xmlns:a16="http://schemas.microsoft.com/office/drawing/2014/main" id="{CEFC1CB6-3D1B-9FA6-2B9B-DCD4EBC3E941}"/>
              </a:ext>
            </a:extLst>
          </p:cNvPr>
          <p:cNvCxnSpPr/>
          <p:nvPr/>
        </p:nvCxnSpPr>
        <p:spPr>
          <a:xfrm>
            <a:off x="8958369" y="3785025"/>
            <a:ext cx="0" cy="136096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6107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3B758D-D028-46E9-8FA0-668D3FF10472}"/>
              </a:ext>
            </a:extLst>
          </p:cNvPr>
          <p:cNvSpPr>
            <a:spLocks noGrp="1"/>
          </p:cNvSpPr>
          <p:nvPr>
            <p:ph type="body" sz="quarter" idx="10"/>
          </p:nvPr>
        </p:nvSpPr>
        <p:spPr>
          <a:xfrm>
            <a:off x="914400" y="3657600"/>
            <a:ext cx="22549104" cy="3200400"/>
          </a:xfrm>
        </p:spPr>
        <p:txBody>
          <a:bodyPr>
            <a:normAutofit/>
          </a:bodyPr>
          <a:lstStyle/>
          <a:p>
            <a:r>
              <a:rPr lang="en-US" dirty="0">
                <a:solidFill>
                  <a:schemeClr val="bg1"/>
                </a:solidFill>
              </a:rPr>
              <a:t>GenAI-Powered Retail Sales Forecasting and Inventory Optimization</a:t>
            </a:r>
          </a:p>
        </p:txBody>
      </p:sp>
      <p:sp>
        <p:nvSpPr>
          <p:cNvPr id="7" name="Text Placeholder 6">
            <a:extLst>
              <a:ext uri="{FF2B5EF4-FFF2-40B4-BE49-F238E27FC236}">
                <a16:creationId xmlns:a16="http://schemas.microsoft.com/office/drawing/2014/main" id="{4BD66263-AFBD-A480-A3D6-B2E55656D679}"/>
              </a:ext>
            </a:extLst>
          </p:cNvPr>
          <p:cNvSpPr>
            <a:spLocks noGrp="1"/>
          </p:cNvSpPr>
          <p:nvPr>
            <p:ph type="body" sz="quarter" idx="11"/>
          </p:nvPr>
        </p:nvSpPr>
        <p:spPr/>
        <p:txBody>
          <a:bodyPr/>
          <a:lstStyle/>
          <a:p>
            <a:r>
              <a:rPr lang="en-US" dirty="0"/>
              <a:t>JINEN MODI </a:t>
            </a:r>
          </a:p>
        </p:txBody>
      </p:sp>
      <p:sp>
        <p:nvSpPr>
          <p:cNvPr id="4" name="Challenge…">
            <a:extLst>
              <a:ext uri="{FF2B5EF4-FFF2-40B4-BE49-F238E27FC236}">
                <a16:creationId xmlns:a16="http://schemas.microsoft.com/office/drawing/2014/main" id="{C788BD69-BF0B-4101-BFA6-17D7514D79CF}"/>
              </a:ext>
            </a:extLst>
          </p:cNvPr>
          <p:cNvSpPr txBox="1">
            <a:spLocks/>
          </p:cNvSpPr>
          <p:nvPr/>
        </p:nvSpPr>
        <p:spPr>
          <a:xfrm>
            <a:off x="1195293" y="10476005"/>
            <a:ext cx="21629255" cy="17188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ormAutofit/>
          </a:bodyPr>
          <a:lstStyle>
            <a:lvl1pPr marL="0" marR="0" indent="0" algn="l" defTabSz="825500" rtl="0" latinLnBrk="0">
              <a:lnSpc>
                <a:spcPct val="100000"/>
              </a:lnSpc>
              <a:spcBef>
                <a:spcPts val="0"/>
              </a:spcBef>
              <a:spcAft>
                <a:spcPts val="0"/>
              </a:spcAft>
              <a:buClrTx/>
              <a:buSzTx/>
              <a:buFontTx/>
              <a:buNone/>
              <a:tabLst/>
              <a:defRPr sz="5400" b="0" i="0" u="none" strike="noStrike" cap="none" spc="0" baseline="0">
                <a:solidFill>
                  <a:srgbClr val="929292"/>
                </a:solidFill>
                <a:uFillTx/>
                <a:latin typeface="+mj-lt"/>
                <a:ea typeface="+mj-ea"/>
                <a:cs typeface="+mj-cs"/>
                <a:sym typeface="Arial"/>
              </a:defRPr>
            </a:lvl1pPr>
            <a:lvl2pPr marL="0" marR="0" indent="0" algn="l" defTabSz="825500" rtl="0" latinLnBrk="0">
              <a:lnSpc>
                <a:spcPct val="100000"/>
              </a:lnSpc>
              <a:spcBef>
                <a:spcPts val="0"/>
              </a:spcBef>
              <a:spcAft>
                <a:spcPts val="0"/>
              </a:spcAft>
              <a:buClrTx/>
              <a:buSzTx/>
              <a:buFontTx/>
              <a:buNone/>
              <a:tabLst/>
              <a:defRPr sz="5400" b="0" i="0" u="none" strike="noStrike" cap="none" spc="0" baseline="0">
                <a:solidFill>
                  <a:srgbClr val="929292"/>
                </a:solidFill>
                <a:uFillTx/>
                <a:latin typeface="+mj-lt"/>
                <a:ea typeface="+mj-ea"/>
                <a:cs typeface="+mj-cs"/>
                <a:sym typeface="Arial"/>
              </a:defRPr>
            </a:lvl2pPr>
            <a:lvl3pPr marL="0" marR="0" indent="0" algn="l" defTabSz="825500" rtl="0" latinLnBrk="0">
              <a:lnSpc>
                <a:spcPct val="100000"/>
              </a:lnSpc>
              <a:spcBef>
                <a:spcPts val="0"/>
              </a:spcBef>
              <a:spcAft>
                <a:spcPts val="0"/>
              </a:spcAft>
              <a:buClrTx/>
              <a:buSzTx/>
              <a:buFontTx/>
              <a:buNone/>
              <a:tabLst/>
              <a:defRPr sz="5400" b="0" i="0" u="none" strike="noStrike" cap="none" spc="0" baseline="0">
                <a:solidFill>
                  <a:srgbClr val="929292"/>
                </a:solidFill>
                <a:uFillTx/>
                <a:latin typeface="+mj-lt"/>
                <a:ea typeface="+mj-ea"/>
                <a:cs typeface="+mj-cs"/>
                <a:sym typeface="Arial"/>
              </a:defRPr>
            </a:lvl3pPr>
            <a:lvl4pPr marL="0" marR="0" indent="0" algn="l" defTabSz="825500" rtl="0" latinLnBrk="0">
              <a:lnSpc>
                <a:spcPct val="100000"/>
              </a:lnSpc>
              <a:spcBef>
                <a:spcPts val="0"/>
              </a:spcBef>
              <a:spcAft>
                <a:spcPts val="0"/>
              </a:spcAft>
              <a:buClrTx/>
              <a:buSzTx/>
              <a:buFontTx/>
              <a:buNone/>
              <a:tabLst/>
              <a:defRPr sz="5400" b="0" i="0" u="none" strike="noStrike" cap="none" spc="0" baseline="0">
                <a:solidFill>
                  <a:srgbClr val="929292"/>
                </a:solidFill>
                <a:uFillTx/>
                <a:latin typeface="+mj-lt"/>
                <a:ea typeface="+mj-ea"/>
                <a:cs typeface="+mj-cs"/>
                <a:sym typeface="Arial"/>
              </a:defRPr>
            </a:lvl4pPr>
            <a:lvl5pPr marL="0" marR="0" indent="0" algn="l" defTabSz="825500" rtl="0" latinLnBrk="0">
              <a:lnSpc>
                <a:spcPct val="100000"/>
              </a:lnSpc>
              <a:spcBef>
                <a:spcPts val="0"/>
              </a:spcBef>
              <a:spcAft>
                <a:spcPts val="0"/>
              </a:spcAft>
              <a:buClrTx/>
              <a:buSzTx/>
              <a:buFontTx/>
              <a:buNone/>
              <a:tabLst/>
              <a:defRPr sz="5400" b="0" i="0" u="none" strike="noStrike" cap="none" spc="0" baseline="0">
                <a:solidFill>
                  <a:srgbClr val="929292"/>
                </a:solidFill>
                <a:uFillTx/>
                <a:latin typeface="+mj-lt"/>
                <a:ea typeface="+mj-ea"/>
                <a:cs typeface="+mj-cs"/>
                <a:sym typeface="Arial"/>
              </a:defRPr>
            </a:lvl5pPr>
            <a:lvl6pPr marL="3810000" marR="0" indent="-635000" algn="l" defTabSz="825500" rtl="0" latinLnBrk="0">
              <a:lnSpc>
                <a:spcPct val="120000"/>
              </a:lnSpc>
              <a:spcBef>
                <a:spcPts val="3200"/>
              </a:spcBef>
              <a:spcAft>
                <a:spcPts val="0"/>
              </a:spcAft>
              <a:buClrTx/>
              <a:buSzPct val="125000"/>
              <a:buFontTx/>
              <a:buChar char="•"/>
              <a:tabLst/>
              <a:defRPr sz="4800" b="0" i="0" u="none" strike="noStrike" cap="none" spc="0" baseline="0">
                <a:solidFill>
                  <a:srgbClr val="5E5E5E"/>
                </a:solidFill>
                <a:uFillTx/>
                <a:latin typeface="+mj-lt"/>
                <a:ea typeface="+mj-ea"/>
                <a:cs typeface="+mj-cs"/>
                <a:sym typeface="Arial"/>
              </a:defRPr>
            </a:lvl6pPr>
            <a:lvl7pPr marL="4445000" marR="0" indent="-635000" algn="l" defTabSz="825500" rtl="0" latinLnBrk="0">
              <a:lnSpc>
                <a:spcPct val="120000"/>
              </a:lnSpc>
              <a:spcBef>
                <a:spcPts val="3200"/>
              </a:spcBef>
              <a:spcAft>
                <a:spcPts val="0"/>
              </a:spcAft>
              <a:buClrTx/>
              <a:buSzPct val="125000"/>
              <a:buFontTx/>
              <a:buChar char="•"/>
              <a:tabLst/>
              <a:defRPr sz="4800" b="0" i="0" u="none" strike="noStrike" cap="none" spc="0" baseline="0">
                <a:solidFill>
                  <a:srgbClr val="5E5E5E"/>
                </a:solidFill>
                <a:uFillTx/>
                <a:latin typeface="+mj-lt"/>
                <a:ea typeface="+mj-ea"/>
                <a:cs typeface="+mj-cs"/>
                <a:sym typeface="Arial"/>
              </a:defRPr>
            </a:lvl7pPr>
            <a:lvl8pPr marL="5080000" marR="0" indent="-635000" algn="l" defTabSz="825500" rtl="0" latinLnBrk="0">
              <a:lnSpc>
                <a:spcPct val="120000"/>
              </a:lnSpc>
              <a:spcBef>
                <a:spcPts val="3200"/>
              </a:spcBef>
              <a:spcAft>
                <a:spcPts val="0"/>
              </a:spcAft>
              <a:buClrTx/>
              <a:buSzPct val="125000"/>
              <a:buFontTx/>
              <a:buChar char="•"/>
              <a:tabLst/>
              <a:defRPr sz="4800" b="0" i="0" u="none" strike="noStrike" cap="none" spc="0" baseline="0">
                <a:solidFill>
                  <a:srgbClr val="5E5E5E"/>
                </a:solidFill>
                <a:uFillTx/>
                <a:latin typeface="+mj-lt"/>
                <a:ea typeface="+mj-ea"/>
                <a:cs typeface="+mj-cs"/>
                <a:sym typeface="Arial"/>
              </a:defRPr>
            </a:lvl8pPr>
            <a:lvl9pPr marL="5715000" marR="0" indent="-635000" algn="l" defTabSz="825500" rtl="0" latinLnBrk="0">
              <a:lnSpc>
                <a:spcPct val="120000"/>
              </a:lnSpc>
              <a:spcBef>
                <a:spcPts val="3200"/>
              </a:spcBef>
              <a:spcAft>
                <a:spcPts val="0"/>
              </a:spcAft>
              <a:buClrTx/>
              <a:buSzPct val="125000"/>
              <a:buFontTx/>
              <a:buChar char="•"/>
              <a:tabLst/>
              <a:defRPr sz="4800" b="0" i="0" u="none" strike="noStrike" cap="none" spc="0" baseline="0">
                <a:solidFill>
                  <a:srgbClr val="5E5E5E"/>
                </a:solidFill>
                <a:uFillTx/>
                <a:latin typeface="+mj-lt"/>
                <a:ea typeface="+mj-ea"/>
                <a:cs typeface="+mj-cs"/>
                <a:sym typeface="Arial"/>
              </a:defRPr>
            </a:lvl9pPr>
          </a:lstStyle>
          <a:p>
            <a:pPr defTabSz="800735" hangingPunct="1">
              <a:spcBef>
                <a:spcPts val="1500"/>
              </a:spcBef>
              <a:buSzPct val="125000"/>
              <a:defRPr sz="4656"/>
            </a:pPr>
            <a:r>
              <a:rPr lang="en-US" sz="2800" dirty="0">
                <a:latin typeface="Lato"/>
                <a:ea typeface="Lato"/>
                <a:cs typeface="Lato"/>
              </a:rPr>
              <a:t>Note: </a:t>
            </a:r>
            <a:r>
              <a:rPr lang="en-US" sz="2800" dirty="0">
                <a:ea typeface="+mj-lt"/>
                <a:cs typeface="+mj-lt"/>
              </a:rPr>
              <a:t>All submissions remain the intellectual property of the individuals or organizations that developed </a:t>
            </a:r>
            <a:r>
              <a:rPr lang="en-US" sz="2800">
                <a:ea typeface="+mj-lt"/>
                <a:cs typeface="+mj-lt"/>
              </a:rPr>
              <a:t>them, and</a:t>
            </a:r>
            <a:r>
              <a:rPr lang="en-US" sz="2800" dirty="0">
                <a:ea typeface="+mj-lt"/>
                <a:cs typeface="+mj-lt"/>
              </a:rPr>
              <a:t> go on to describe a non-exclusive, royalty-free license granted to the sponsor, rather than a full transfer of ownership.</a:t>
            </a:r>
          </a:p>
        </p:txBody>
      </p:sp>
    </p:spTree>
    <p:extLst>
      <p:ext uri="{BB962C8B-B14F-4D97-AF65-F5344CB8AC3E}">
        <p14:creationId xmlns:p14="http://schemas.microsoft.com/office/powerpoint/2010/main" val="51483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prstGeom prst="rect">
            <a:avLst/>
          </a:prstGeom>
        </p:spPr>
        <p:txBody>
          <a:bodyPr lIns="0" tIns="0" rIns="0" bIns="0" anchor="ctr">
            <a:normAutofit/>
          </a:bodyPr>
          <a:lstStyle/>
          <a:p>
            <a:pPr defTabSz="800735">
              <a:spcBef>
                <a:spcPts val="1500"/>
              </a:spcBef>
              <a:buSzPct val="125000"/>
              <a:defRPr sz="4656"/>
            </a:pPr>
            <a:r>
              <a:rPr lang="en-US" sz="5400"/>
              <a:t>Introduction</a:t>
            </a:r>
          </a:p>
        </p:txBody>
      </p:sp>
      <p:sp>
        <p:nvSpPr>
          <p:cNvPr id="2" name="Text Placeholder 1">
            <a:extLst>
              <a:ext uri="{FF2B5EF4-FFF2-40B4-BE49-F238E27FC236}">
                <a16:creationId xmlns:a16="http://schemas.microsoft.com/office/drawing/2014/main" id="{2BA3B71E-80B7-7CAC-6B28-678095FCAD8B}"/>
              </a:ext>
            </a:extLst>
          </p:cNvPr>
          <p:cNvSpPr>
            <a:spLocks noGrp="1"/>
          </p:cNvSpPr>
          <p:nvPr>
            <p:ph type="body" sz="quarter" idx="11"/>
          </p:nvPr>
        </p:nvSpPr>
        <p:spPr/>
        <p:txBody>
          <a:bodyPr/>
          <a:lstStyle/>
          <a:p>
            <a:pPr>
              <a:buNone/>
            </a:pPr>
            <a:r>
              <a:rPr lang="en-US" sz="3200" b="1" dirty="0"/>
              <a:t>About Me:</a:t>
            </a:r>
            <a:endParaRPr lang="en-US" sz="3200" dirty="0"/>
          </a:p>
          <a:p>
            <a:r>
              <a:rPr lang="en-US" sz="3200" dirty="0"/>
              <a:t>I am Jinen Modi, a data engineer and machine learning enthusiast with a passion for building impactful AI-driven solutions.</a:t>
            </a:r>
          </a:p>
          <a:p>
            <a:endParaRPr lang="en-US" sz="3200" dirty="0"/>
          </a:p>
          <a:p>
            <a:pPr>
              <a:buNone/>
            </a:pPr>
            <a:r>
              <a:rPr lang="en-US" sz="3200" b="1" dirty="0"/>
              <a:t>Role and Responsibilities:</a:t>
            </a:r>
            <a:endParaRPr lang="en-US" sz="3200" dirty="0"/>
          </a:p>
          <a:p>
            <a:r>
              <a:rPr lang="en-US" sz="3200" dirty="0"/>
              <a:t>I single-handedly designed, developed, and deployed this end-to-end AI-powered retail sales forecasting system. This involved data engineering, model development (XGBoost and TimeLLM), cloud infrastructure setup with AWS, and creating an accessible, interactive Streamlit UI.</a:t>
            </a:r>
          </a:p>
          <a:p>
            <a:endParaRPr lang="en-US" sz="3200" dirty="0"/>
          </a:p>
        </p:txBody>
      </p:sp>
    </p:spTree>
    <p:extLst>
      <p:ext uri="{BB962C8B-B14F-4D97-AF65-F5344CB8AC3E}">
        <p14:creationId xmlns:p14="http://schemas.microsoft.com/office/powerpoint/2010/main" val="327210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Problem ​statement​</a:t>
            </a:r>
          </a:p>
        </p:txBody>
      </p:sp>
      <p:sp>
        <p:nvSpPr>
          <p:cNvPr id="2" name="Text Placeholder 1">
            <a:extLst>
              <a:ext uri="{FF2B5EF4-FFF2-40B4-BE49-F238E27FC236}">
                <a16:creationId xmlns:a16="http://schemas.microsoft.com/office/drawing/2014/main" id="{0897FE60-9958-0E9B-02A5-553650F4089A}"/>
              </a:ext>
            </a:extLst>
          </p:cNvPr>
          <p:cNvSpPr>
            <a:spLocks noGrp="1"/>
          </p:cNvSpPr>
          <p:nvPr>
            <p:ph type="body" sz="quarter" idx="11"/>
          </p:nvPr>
        </p:nvSpPr>
        <p:spPr>
          <a:xfrm>
            <a:off x="458114" y="2123440"/>
            <a:ext cx="23463504" cy="10058400"/>
          </a:xfrm>
        </p:spPr>
        <p:txBody>
          <a:bodyPr/>
          <a:lstStyle/>
          <a:p>
            <a:pPr>
              <a:buNone/>
            </a:pPr>
            <a:r>
              <a:rPr lang="en-US" sz="3200" dirty="0"/>
              <a:t>Retailers face significant challenges in accurately forecasting demand for thousands of products across multiple stores and departments. Poor demand forecasting leads to stockouts, lost sales, and excess inventory, which increase costs and reduce customer satisfaction.</a:t>
            </a:r>
          </a:p>
          <a:p>
            <a:pPr>
              <a:buNone/>
            </a:pPr>
            <a:r>
              <a:rPr lang="en-US" sz="3200" dirty="0"/>
              <a:t>This project addresses the critical need for precise, scalable, and explainable demand forecasting in retail supply chains. Our solution focuses on:</a:t>
            </a:r>
          </a:p>
          <a:p>
            <a:pPr>
              <a:buFont typeface="Arial" panose="020B0604020202020204" pitchFamily="34" charset="0"/>
              <a:buChar char="•"/>
            </a:pPr>
            <a:r>
              <a:rPr lang="en-US" sz="3200" dirty="0"/>
              <a:t>Generating accurate weekly sales forecasts at store-department level</a:t>
            </a:r>
          </a:p>
          <a:p>
            <a:pPr>
              <a:buFont typeface="Arial" panose="020B0604020202020204" pitchFamily="34" charset="0"/>
              <a:buChar char="•"/>
            </a:pPr>
            <a:r>
              <a:rPr lang="en-US" sz="3200" dirty="0"/>
              <a:t>Leveraging advanced machine learning models (XGBoost, TimeLLM)</a:t>
            </a:r>
          </a:p>
          <a:p>
            <a:pPr>
              <a:buFont typeface="Arial" panose="020B0604020202020204" pitchFamily="34" charset="0"/>
              <a:buChar char="•"/>
            </a:pPr>
            <a:r>
              <a:rPr lang="en-US" sz="3200" dirty="0"/>
              <a:t>Providing real-time, actionable inventory recommendations</a:t>
            </a:r>
          </a:p>
          <a:p>
            <a:pPr>
              <a:buFont typeface="Arial" panose="020B0604020202020204" pitchFamily="34" charset="0"/>
              <a:buChar char="•"/>
            </a:pPr>
            <a:r>
              <a:rPr lang="en-US" sz="3200" dirty="0"/>
              <a:t>Integrating voice-driven commands and interactive analytics</a:t>
            </a:r>
          </a:p>
          <a:p>
            <a:pPr>
              <a:buFont typeface="Arial" panose="020B0604020202020204" pitchFamily="34" charset="0"/>
              <a:buChar char="•"/>
            </a:pPr>
            <a:r>
              <a:rPr lang="en-US" sz="3200" dirty="0"/>
              <a:t>Supporting accessible and user-friendly interfaces for business users</a:t>
            </a:r>
            <a:br>
              <a:rPr lang="en-US" sz="3200" dirty="0"/>
            </a:br>
            <a:endParaRPr lang="en-US" sz="3200" dirty="0"/>
          </a:p>
          <a:p>
            <a:r>
              <a:rPr lang="en-US" sz="3200" dirty="0"/>
              <a:t>By tackling these, we aim to improve inventory management efficiency, reduce wastage, and enhance overall retail operational excellence.</a:t>
            </a:r>
          </a:p>
        </p:txBody>
      </p:sp>
    </p:spTree>
    <p:extLst>
      <p:ext uri="{BB962C8B-B14F-4D97-AF65-F5344CB8AC3E}">
        <p14:creationId xmlns:p14="http://schemas.microsoft.com/office/powerpoint/2010/main" val="285469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xfrm>
            <a:off x="458114" y="233680"/>
            <a:ext cx="23463504" cy="1371600"/>
          </a:xfrm>
          <a:prstGeom prst="rect">
            <a:avLst/>
          </a:prstGeom>
        </p:spPr>
        <p:txBody>
          <a:bodyPr lIns="0" rIns="0">
            <a:normAutofit/>
          </a:bodyPr>
          <a:lstStyle/>
          <a:p>
            <a:pPr defTabSz="800735">
              <a:spcBef>
                <a:spcPts val="1500"/>
              </a:spcBef>
              <a:buSzPct val="125000"/>
              <a:defRPr sz="4656"/>
            </a:pPr>
            <a:r>
              <a:rPr lang="en-US" sz="5400" dirty="0"/>
              <a:t>Solution approach​</a:t>
            </a:r>
          </a:p>
        </p:txBody>
      </p:sp>
      <p:sp>
        <p:nvSpPr>
          <p:cNvPr id="2" name="Text Placeholder 1">
            <a:extLst>
              <a:ext uri="{FF2B5EF4-FFF2-40B4-BE49-F238E27FC236}">
                <a16:creationId xmlns:a16="http://schemas.microsoft.com/office/drawing/2014/main" id="{34879E1D-C3A0-AE93-9F97-BAC3FD4E0B39}"/>
              </a:ext>
            </a:extLst>
          </p:cNvPr>
          <p:cNvSpPr>
            <a:spLocks noGrp="1"/>
          </p:cNvSpPr>
          <p:nvPr>
            <p:ph type="body" sz="quarter" idx="11"/>
          </p:nvPr>
        </p:nvSpPr>
        <p:spPr>
          <a:xfrm>
            <a:off x="458114" y="1828800"/>
            <a:ext cx="23463504" cy="10058400"/>
          </a:xfrm>
        </p:spPr>
        <p:txBody>
          <a:bodyPr/>
          <a:lstStyle/>
          <a:p>
            <a:pPr>
              <a:buNone/>
            </a:pPr>
            <a:r>
              <a:rPr lang="en-US" sz="3200" dirty="0"/>
              <a:t>Our solution leverages a fully integrated end-to-end architecture combining advanced machine learning, modern cloud services, and an intuitive user interface to tackle retail demand forecasting and inventory optimization.</a:t>
            </a:r>
          </a:p>
          <a:p>
            <a:pPr>
              <a:buNone/>
            </a:pPr>
            <a:r>
              <a:rPr lang="en-US" sz="3200" b="1" dirty="0"/>
              <a:t>Key Features:</a:t>
            </a:r>
            <a:endParaRPr lang="en-US" sz="3200" dirty="0"/>
          </a:p>
          <a:p>
            <a:pPr>
              <a:buFont typeface="Arial" panose="020B0604020202020204" pitchFamily="34" charset="0"/>
              <a:buChar char="•"/>
            </a:pPr>
            <a:r>
              <a:rPr lang="en-US" sz="3200" b="1" dirty="0"/>
              <a:t>Data Engineering Pipeline:</a:t>
            </a:r>
            <a:r>
              <a:rPr lang="en-US" sz="3200" dirty="0"/>
              <a:t> Automated data ingestion, cleaning, and transformation using AWS Glue and S3, ensuring scalable and reliable data flow.</a:t>
            </a:r>
          </a:p>
          <a:p>
            <a:pPr>
              <a:buFont typeface="Arial" panose="020B0604020202020204" pitchFamily="34" charset="0"/>
              <a:buChar char="•"/>
            </a:pPr>
            <a:r>
              <a:rPr lang="en-US" sz="3200" b="1" dirty="0"/>
              <a:t>Hybrid Forecasting Models:</a:t>
            </a:r>
            <a:r>
              <a:rPr lang="en-US" sz="3200" dirty="0"/>
              <a:t> Employs classical XGBoost models grouped by store types for precision, augmented with generative AI via our custom GPT2-powered TimeLLM for explainable and adaptable forecasting.</a:t>
            </a:r>
          </a:p>
          <a:p>
            <a:pPr>
              <a:buFont typeface="Arial" panose="020B0604020202020204" pitchFamily="34" charset="0"/>
              <a:buChar char="•"/>
            </a:pPr>
            <a:r>
              <a:rPr lang="en-US" sz="3200" b="1" dirty="0"/>
              <a:t>Real-Time Interaction:</a:t>
            </a:r>
            <a:r>
              <a:rPr lang="en-US" sz="3200" dirty="0"/>
              <a:t> Voice-driven input through Amazon Transcribe, with speech output via Amazon Polly, creating a seamless conversational forecasting experience.</a:t>
            </a:r>
          </a:p>
          <a:p>
            <a:pPr>
              <a:buFont typeface="Arial" panose="020B0604020202020204" pitchFamily="34" charset="0"/>
              <a:buChar char="•"/>
            </a:pPr>
            <a:r>
              <a:rPr lang="en-US" sz="3200" b="1" dirty="0"/>
              <a:t>Inventory Optimization &amp; Alerts:</a:t>
            </a:r>
            <a:r>
              <a:rPr lang="en-US" sz="3200" dirty="0"/>
              <a:t> Rule-based reorder alerts powered by forecast insights, integrated with AWS SNS for real-time notifications.</a:t>
            </a:r>
          </a:p>
          <a:p>
            <a:pPr>
              <a:buFont typeface="Arial" panose="020B0604020202020204" pitchFamily="34" charset="0"/>
              <a:buChar char="•"/>
            </a:pPr>
            <a:r>
              <a:rPr lang="en-US" sz="3200" b="1" dirty="0"/>
              <a:t>Robust Access &amp; Monitoring:</a:t>
            </a:r>
            <a:r>
              <a:rPr lang="en-US" sz="3200" dirty="0"/>
              <a:t> User authentication, logging, and audit trails to ensure security, transparency, and traceability.</a:t>
            </a:r>
          </a:p>
          <a:p>
            <a:pPr>
              <a:buNone/>
            </a:pPr>
            <a:br>
              <a:rPr lang="en-US" sz="3200" dirty="0"/>
            </a:br>
            <a:endParaRPr lang="en-US" sz="3200" dirty="0"/>
          </a:p>
        </p:txBody>
      </p:sp>
    </p:spTree>
    <p:extLst>
      <p:ext uri="{BB962C8B-B14F-4D97-AF65-F5344CB8AC3E}">
        <p14:creationId xmlns:p14="http://schemas.microsoft.com/office/powerpoint/2010/main" val="404194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B7284E-21D5-C80D-F419-FBC7BD836E0D}"/>
              </a:ext>
            </a:extLst>
          </p:cNvPr>
          <p:cNvSpPr>
            <a:spLocks noGrp="1"/>
          </p:cNvSpPr>
          <p:nvPr>
            <p:ph type="body" sz="quarter" idx="11"/>
          </p:nvPr>
        </p:nvSpPr>
        <p:spPr>
          <a:xfrm>
            <a:off x="460248" y="457200"/>
            <a:ext cx="23463504" cy="10058400"/>
          </a:xfrm>
        </p:spPr>
        <p:txBody>
          <a:bodyPr/>
          <a:lstStyle/>
          <a:p>
            <a:pPr>
              <a:buNone/>
            </a:pPr>
            <a:r>
              <a:rPr lang="en-US" sz="3200" b="1" dirty="0"/>
              <a:t>Scope of Scaling:</a:t>
            </a:r>
            <a:endParaRPr lang="en-US" sz="3200" dirty="0"/>
          </a:p>
          <a:p>
            <a:pPr>
              <a:buFont typeface="Arial" panose="020B0604020202020204" pitchFamily="34" charset="0"/>
              <a:buChar char="•"/>
            </a:pPr>
            <a:r>
              <a:rPr lang="en-US" sz="3200" b="1" dirty="0"/>
              <a:t>Horizontal:</a:t>
            </a:r>
            <a:r>
              <a:rPr lang="en-US" sz="3200" dirty="0"/>
              <a:t> Easily extendable to thousands of stores and product categories by leveraging serverless AWS infrastructure, Glue, Athena, and scalable ML models.</a:t>
            </a:r>
          </a:p>
          <a:p>
            <a:pPr>
              <a:buFont typeface="Arial" panose="020B0604020202020204" pitchFamily="34" charset="0"/>
              <a:buChar char="•"/>
            </a:pPr>
            <a:r>
              <a:rPr lang="en-US" sz="3200" b="1" dirty="0"/>
              <a:t>Vertical:</a:t>
            </a:r>
            <a:r>
              <a:rPr lang="en-US" sz="3200" dirty="0"/>
              <a:t> Modular architecture allows upgrading models to more sophisticated GenAI approaches and adding deeper supply chain optimization modules without disrupting existing workflows.</a:t>
            </a:r>
          </a:p>
          <a:p>
            <a:pPr>
              <a:buNone/>
            </a:pPr>
            <a:br>
              <a:rPr lang="en-US" sz="3200" dirty="0"/>
            </a:br>
            <a:r>
              <a:rPr lang="en-US" sz="3200" dirty="0"/>
              <a:t>This design ensures a robust, scalable, and business-ready forecasting platform that adapts and grows with retail operational demands.</a:t>
            </a:r>
          </a:p>
          <a:p>
            <a:endParaRPr lang="en-US" sz="3200" dirty="0"/>
          </a:p>
        </p:txBody>
      </p:sp>
    </p:spTree>
    <p:extLst>
      <p:ext uri="{BB962C8B-B14F-4D97-AF65-F5344CB8AC3E}">
        <p14:creationId xmlns:p14="http://schemas.microsoft.com/office/powerpoint/2010/main" val="390835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dirty="0"/>
              <a:t>Tech-stack selection​</a:t>
            </a:r>
          </a:p>
        </p:txBody>
      </p:sp>
      <p:sp>
        <p:nvSpPr>
          <p:cNvPr id="2" name="Text Placeholder 1">
            <a:extLst>
              <a:ext uri="{FF2B5EF4-FFF2-40B4-BE49-F238E27FC236}">
                <a16:creationId xmlns:a16="http://schemas.microsoft.com/office/drawing/2014/main" id="{C05274A5-D542-58B9-A55F-A6FE96EE3B28}"/>
              </a:ext>
            </a:extLst>
          </p:cNvPr>
          <p:cNvSpPr>
            <a:spLocks noGrp="1"/>
          </p:cNvSpPr>
          <p:nvPr>
            <p:ph type="body" sz="quarter" idx="11"/>
          </p:nvPr>
        </p:nvSpPr>
        <p:spPr>
          <a:xfrm>
            <a:off x="458114" y="1828800"/>
            <a:ext cx="23463504" cy="10058400"/>
          </a:xfrm>
        </p:spPr>
        <p:txBody>
          <a:bodyPr/>
          <a:lstStyle/>
          <a:p>
            <a:r>
              <a:rPr lang="en-US" sz="3200" b="1" dirty="0"/>
              <a:t>Tech-Stack Selection</a:t>
            </a:r>
          </a:p>
          <a:p>
            <a:r>
              <a:rPr lang="en-US" sz="3200" b="1" dirty="0"/>
              <a:t>Models &amp; Frameworks:</a:t>
            </a:r>
            <a:endParaRPr lang="en-US" sz="3200" dirty="0"/>
          </a:p>
          <a:p>
            <a:r>
              <a:rPr lang="en-US" sz="3200" b="1" dirty="0"/>
              <a:t>XGBoost:</a:t>
            </a:r>
            <a:r>
              <a:rPr lang="en-US" sz="3200" dirty="0"/>
              <a:t> Proven gradient boosting framework for tabular retail sales data, enabling highly accurate demand forecasts tailored by store type.</a:t>
            </a:r>
          </a:p>
          <a:p>
            <a:r>
              <a:rPr lang="en-US" sz="3200" b="1" dirty="0"/>
              <a:t>Custom GPT2-based TimeLLM:</a:t>
            </a:r>
            <a:r>
              <a:rPr lang="en-US" sz="3200" dirty="0"/>
              <a:t> Cutting-edge generative time series model for advanced forecasting and explainability, built with PyTorch.</a:t>
            </a:r>
          </a:p>
          <a:p>
            <a:r>
              <a:rPr lang="en-US" sz="3200" b="1" dirty="0"/>
              <a:t>Python:</a:t>
            </a:r>
            <a:r>
              <a:rPr lang="en-US" sz="3200" dirty="0"/>
              <a:t> Core language for data processing, model training, and Streamlit frontend development.</a:t>
            </a:r>
          </a:p>
          <a:p>
            <a:r>
              <a:rPr lang="en-US" sz="3200" b="1" dirty="0"/>
              <a:t>AWS Services:</a:t>
            </a:r>
            <a:endParaRPr lang="en-US" sz="3200" dirty="0"/>
          </a:p>
          <a:p>
            <a:r>
              <a:rPr lang="en-US" sz="3200" b="1" dirty="0"/>
              <a:t>AWS Glue:</a:t>
            </a:r>
            <a:r>
              <a:rPr lang="en-US" sz="3200" dirty="0"/>
              <a:t> Serverless ETL for scalable data ingestion, cleaning, and transformation across multiple raw datasets.</a:t>
            </a:r>
          </a:p>
          <a:p>
            <a:r>
              <a:rPr lang="en-US" sz="3200" b="1" dirty="0"/>
              <a:t>Amazon S3:</a:t>
            </a:r>
            <a:r>
              <a:rPr lang="en-US" sz="3200" dirty="0"/>
              <a:t> Centralized data lake and model artifact storage for robustness and accessibility.</a:t>
            </a:r>
          </a:p>
          <a:p>
            <a:r>
              <a:rPr lang="en-US" sz="3200" b="1" dirty="0"/>
              <a:t>AWS Athena:</a:t>
            </a:r>
            <a:r>
              <a:rPr lang="en-US" sz="3200" dirty="0"/>
              <a:t> Interactive querying on cleaned Parquet datasets for quick data exploration and integration.</a:t>
            </a:r>
          </a:p>
          <a:p>
            <a:r>
              <a:rPr lang="en-US" sz="3200" b="1" dirty="0"/>
              <a:t>AWS SageMaker:</a:t>
            </a:r>
            <a:r>
              <a:rPr lang="en-US" sz="3200" dirty="0"/>
              <a:t> Model training and scalable deployment (planned/partially integrated).</a:t>
            </a:r>
          </a:p>
          <a:p>
            <a:r>
              <a:rPr lang="en-US" sz="3200" b="1" dirty="0"/>
              <a:t>Amazon Transcribe &amp; Polly:</a:t>
            </a:r>
            <a:r>
              <a:rPr lang="en-US" sz="3200" dirty="0"/>
              <a:t> Voice input/output integration for accessible and interactive forecasting.</a:t>
            </a:r>
          </a:p>
          <a:p>
            <a:r>
              <a:rPr lang="en-US" sz="3200" b="1" dirty="0"/>
              <a:t>Amazon SNS:</a:t>
            </a:r>
            <a:r>
              <a:rPr lang="en-US" sz="3200" dirty="0"/>
              <a:t> Real-time alerting system for inventory reorder notifications.</a:t>
            </a:r>
          </a:p>
        </p:txBody>
      </p:sp>
    </p:spTree>
    <p:extLst>
      <p:ext uri="{BB962C8B-B14F-4D97-AF65-F5344CB8AC3E}">
        <p14:creationId xmlns:p14="http://schemas.microsoft.com/office/powerpoint/2010/main" val="230459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857277-9FDE-C290-F348-DE62085D3651}"/>
              </a:ext>
            </a:extLst>
          </p:cNvPr>
          <p:cNvSpPr>
            <a:spLocks noGrp="1"/>
          </p:cNvSpPr>
          <p:nvPr>
            <p:ph type="body" sz="quarter" idx="11"/>
          </p:nvPr>
        </p:nvSpPr>
        <p:spPr>
          <a:xfrm>
            <a:off x="460248" y="747132"/>
            <a:ext cx="23463504" cy="10058400"/>
          </a:xfrm>
        </p:spPr>
        <p:txBody>
          <a:bodyPr/>
          <a:lstStyle/>
          <a:p>
            <a:pPr>
              <a:buNone/>
            </a:pPr>
            <a:r>
              <a:rPr lang="en-US" sz="3200" b="1" dirty="0"/>
              <a:t>Additional Technologies:</a:t>
            </a:r>
            <a:endParaRPr lang="en-US" sz="3200" dirty="0"/>
          </a:p>
          <a:p>
            <a:pPr>
              <a:buFont typeface="Arial" panose="020B0604020202020204" pitchFamily="34" charset="0"/>
              <a:buChar char="•"/>
            </a:pPr>
            <a:r>
              <a:rPr lang="en-US" sz="3200" b="1" dirty="0"/>
              <a:t>Streamlit:</a:t>
            </a:r>
            <a:r>
              <a:rPr lang="en-US" sz="3200" dirty="0"/>
              <a:t> Rapid web app development with support for interactive dashboards, voice integration, and accessibility.</a:t>
            </a:r>
          </a:p>
          <a:p>
            <a:pPr>
              <a:buFont typeface="Arial" panose="020B0604020202020204" pitchFamily="34" charset="0"/>
              <a:buChar char="•"/>
            </a:pPr>
            <a:r>
              <a:rPr lang="en-US" sz="3200" b="1" dirty="0"/>
              <a:t>Pandas &amp; PyAthena:</a:t>
            </a:r>
            <a:r>
              <a:rPr lang="en-US" sz="3200" dirty="0"/>
              <a:t> Data processing and querying libraries ensuring smooth integration between AWS data sources and local workflows.</a:t>
            </a:r>
          </a:p>
          <a:p>
            <a:pPr>
              <a:buNone/>
            </a:pPr>
            <a:br>
              <a:rPr lang="en-US" sz="3200" dirty="0"/>
            </a:br>
            <a:r>
              <a:rPr lang="en-US" sz="3200" b="1" dirty="0"/>
              <a:t>Reasons for Selection:</a:t>
            </a:r>
            <a:endParaRPr lang="en-US" sz="3200" dirty="0"/>
          </a:p>
          <a:p>
            <a:pPr>
              <a:buFont typeface="Arial" panose="020B0604020202020204" pitchFamily="34" charset="0"/>
              <a:buChar char="•"/>
            </a:pPr>
            <a:r>
              <a:rPr lang="en-US" sz="3200" dirty="0"/>
              <a:t>Scalability and flexibility with AWS serverless architecture to handle large volumes of retail data efficiently.</a:t>
            </a:r>
          </a:p>
          <a:p>
            <a:pPr>
              <a:buFont typeface="Arial" panose="020B0604020202020204" pitchFamily="34" charset="0"/>
              <a:buChar char="•"/>
            </a:pPr>
            <a:r>
              <a:rPr lang="en-US" sz="3200" dirty="0"/>
              <a:t>Hybrid approach combining classical ML and generative AI offers both accuracy and adaptability.</a:t>
            </a:r>
          </a:p>
          <a:p>
            <a:pPr>
              <a:buFont typeface="Arial" panose="020B0604020202020204" pitchFamily="34" charset="0"/>
              <a:buChar char="•"/>
            </a:pPr>
            <a:r>
              <a:rPr lang="en-US" sz="3200" dirty="0"/>
              <a:t>Streamlit and voice services improve accessibility and user experience for diverse stakeholders.</a:t>
            </a:r>
          </a:p>
          <a:p>
            <a:pPr>
              <a:buFont typeface="Arial" panose="020B0604020202020204" pitchFamily="34" charset="0"/>
              <a:buChar char="•"/>
            </a:pPr>
            <a:r>
              <a:rPr lang="en-US" sz="3200" dirty="0"/>
              <a:t>Modular and cloud-native design ensures easy future extensibility, monitoring, and operational robustness.</a:t>
            </a:r>
          </a:p>
          <a:p>
            <a:endParaRPr lang="en-US" sz="3200" dirty="0"/>
          </a:p>
        </p:txBody>
      </p:sp>
    </p:spTree>
    <p:extLst>
      <p:ext uri="{BB962C8B-B14F-4D97-AF65-F5344CB8AC3E}">
        <p14:creationId xmlns:p14="http://schemas.microsoft.com/office/powerpoint/2010/main" val="327591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B261C-B534-9C39-B209-DFA9915C8329}"/>
            </a:ext>
          </a:extLst>
        </p:cNvPr>
        <p:cNvGrpSpPr/>
        <p:nvPr/>
      </p:nvGrpSpPr>
      <p:grpSpPr>
        <a:xfrm>
          <a:off x="0" y="0"/>
          <a:ext cx="0" cy="0"/>
          <a:chOff x="0" y="0"/>
          <a:chExt cx="0" cy="0"/>
        </a:xfrm>
      </p:grpSpPr>
      <p:sp>
        <p:nvSpPr>
          <p:cNvPr id="399" name="Challenge…">
            <a:extLst>
              <a:ext uri="{FF2B5EF4-FFF2-40B4-BE49-F238E27FC236}">
                <a16:creationId xmlns:a16="http://schemas.microsoft.com/office/drawing/2014/main" id="{A9085561-675C-1B47-6DA1-71CEDD253BCC}"/>
              </a:ext>
            </a:extLst>
          </p:cNvPr>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Architecture design/diagram</a:t>
            </a:r>
          </a:p>
        </p:txBody>
      </p:sp>
      <p:pic>
        <p:nvPicPr>
          <p:cNvPr id="4" name="Picture 3" descr="A diagram of a supply chain forecasting and optimize&#10;&#10;AI-generated content may be incorrect.">
            <a:extLst>
              <a:ext uri="{FF2B5EF4-FFF2-40B4-BE49-F238E27FC236}">
                <a16:creationId xmlns:a16="http://schemas.microsoft.com/office/drawing/2014/main" id="{03553D61-6831-F595-2ABB-243DACF3943C}"/>
              </a:ext>
            </a:extLst>
          </p:cNvPr>
          <p:cNvPicPr>
            <a:picLocks noChangeAspect="1"/>
          </p:cNvPicPr>
          <p:nvPr/>
        </p:nvPicPr>
        <p:blipFill>
          <a:blip r:embed="rId3"/>
          <a:stretch>
            <a:fillRect/>
          </a:stretch>
        </p:blipFill>
        <p:spPr>
          <a:xfrm>
            <a:off x="5159296" y="2430966"/>
            <a:ext cx="15292041" cy="9367024"/>
          </a:xfrm>
          <a:prstGeom prst="rect">
            <a:avLst/>
          </a:prstGeom>
        </p:spPr>
      </p:pic>
    </p:spTree>
    <p:extLst>
      <p:ext uri="{BB962C8B-B14F-4D97-AF65-F5344CB8AC3E}">
        <p14:creationId xmlns:p14="http://schemas.microsoft.com/office/powerpoint/2010/main" val="1199458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2DB0D-39A4-5FBE-3E6F-EDC7CCD3AD80}"/>
            </a:ext>
          </a:extLst>
        </p:cNvPr>
        <p:cNvGrpSpPr/>
        <p:nvPr/>
      </p:nvGrpSpPr>
      <p:grpSpPr>
        <a:xfrm>
          <a:off x="0" y="0"/>
          <a:ext cx="0" cy="0"/>
          <a:chOff x="0" y="0"/>
          <a:chExt cx="0" cy="0"/>
        </a:xfrm>
      </p:grpSpPr>
      <p:sp>
        <p:nvSpPr>
          <p:cNvPr id="399" name="Challenge…">
            <a:extLst>
              <a:ext uri="{FF2B5EF4-FFF2-40B4-BE49-F238E27FC236}">
                <a16:creationId xmlns:a16="http://schemas.microsoft.com/office/drawing/2014/main" id="{018AD5B1-3039-56A9-41EE-A93898A4D53E}"/>
              </a:ext>
            </a:extLst>
          </p:cNvPr>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Cost estimates​</a:t>
            </a:r>
          </a:p>
        </p:txBody>
      </p:sp>
      <p:pic>
        <p:nvPicPr>
          <p:cNvPr id="5" name="Picture 4">
            <a:extLst>
              <a:ext uri="{FF2B5EF4-FFF2-40B4-BE49-F238E27FC236}">
                <a16:creationId xmlns:a16="http://schemas.microsoft.com/office/drawing/2014/main" id="{A555273C-8F06-1FC1-243A-DC61648EFC9C}"/>
              </a:ext>
            </a:extLst>
          </p:cNvPr>
          <p:cNvPicPr>
            <a:picLocks noChangeAspect="1"/>
          </p:cNvPicPr>
          <p:nvPr/>
        </p:nvPicPr>
        <p:blipFill>
          <a:blip r:embed="rId3"/>
          <a:stretch>
            <a:fillRect/>
          </a:stretch>
        </p:blipFill>
        <p:spPr>
          <a:xfrm>
            <a:off x="3100040" y="1828800"/>
            <a:ext cx="12377854" cy="10392937"/>
          </a:xfrm>
          <a:prstGeom prst="rect">
            <a:avLst/>
          </a:prstGeom>
        </p:spPr>
      </p:pic>
    </p:spTree>
    <p:extLst>
      <p:ext uri="{BB962C8B-B14F-4D97-AF65-F5344CB8AC3E}">
        <p14:creationId xmlns:p14="http://schemas.microsoft.com/office/powerpoint/2010/main" val="222695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xfrm>
            <a:off x="458114" y="289932"/>
            <a:ext cx="23463504" cy="1371600"/>
          </a:xfrm>
          <a:prstGeom prst="rect">
            <a:avLst/>
          </a:prstGeom>
        </p:spPr>
        <p:txBody>
          <a:bodyPr lIns="0" rIns="0">
            <a:normAutofit/>
          </a:bodyPr>
          <a:lstStyle/>
          <a:p>
            <a:pPr defTabSz="800735">
              <a:spcBef>
                <a:spcPts val="1500"/>
              </a:spcBef>
              <a:buSzPct val="125000"/>
              <a:defRPr sz="4656"/>
            </a:pPr>
            <a:r>
              <a:rPr lang="en-US" sz="5400" dirty="0"/>
              <a:t>Impact potential &amp; limitations​</a:t>
            </a:r>
          </a:p>
        </p:txBody>
      </p:sp>
      <p:sp>
        <p:nvSpPr>
          <p:cNvPr id="2" name="Text Placeholder 1">
            <a:extLst>
              <a:ext uri="{FF2B5EF4-FFF2-40B4-BE49-F238E27FC236}">
                <a16:creationId xmlns:a16="http://schemas.microsoft.com/office/drawing/2014/main" id="{D41976E6-6035-0B76-7533-AA09FA61F85F}"/>
              </a:ext>
            </a:extLst>
          </p:cNvPr>
          <p:cNvSpPr>
            <a:spLocks noGrp="1"/>
          </p:cNvSpPr>
          <p:nvPr>
            <p:ph type="body" sz="quarter" idx="11"/>
          </p:nvPr>
        </p:nvSpPr>
        <p:spPr>
          <a:xfrm>
            <a:off x="458114" y="1661532"/>
            <a:ext cx="23463504" cy="10058400"/>
          </a:xfrm>
        </p:spPr>
        <p:txBody>
          <a:bodyPr/>
          <a:lstStyle/>
          <a:p>
            <a:pPr>
              <a:buNone/>
            </a:pPr>
            <a:r>
              <a:rPr lang="en-US" sz="3000" b="1" dirty="0"/>
              <a:t>Potential impact</a:t>
            </a:r>
            <a:endParaRPr lang="en-US" sz="3000" dirty="0"/>
          </a:p>
          <a:p>
            <a:pPr>
              <a:buFont typeface="Arial" panose="020B0604020202020204" pitchFamily="34" charset="0"/>
              <a:buChar char="•"/>
            </a:pPr>
            <a:r>
              <a:rPr lang="en-US" sz="3000" dirty="0"/>
              <a:t>Modernizes retail supply chain planning with GenAI-enhanced forecasting.</a:t>
            </a:r>
          </a:p>
          <a:p>
            <a:pPr>
              <a:buFont typeface="Arial" panose="020B0604020202020204" pitchFamily="34" charset="0"/>
              <a:buChar char="•"/>
            </a:pPr>
            <a:r>
              <a:rPr lang="en-US" sz="3000" dirty="0"/>
              <a:t>Scalable to large enterprise datasets and multi-store deployments.</a:t>
            </a:r>
          </a:p>
          <a:p>
            <a:pPr>
              <a:buFont typeface="Arial" panose="020B0604020202020204" pitchFamily="34" charset="0"/>
              <a:buChar char="•"/>
            </a:pPr>
            <a:r>
              <a:rPr lang="en-US" sz="3000" dirty="0"/>
              <a:t>Drives smarter business decisions by reducing forecast error and demand shocks.</a:t>
            </a:r>
          </a:p>
          <a:p>
            <a:pPr>
              <a:buNone/>
            </a:pPr>
            <a:r>
              <a:rPr lang="en-US" sz="3000" b="1" dirty="0"/>
              <a:t> Benefits</a:t>
            </a:r>
            <a:endParaRPr lang="en-US" sz="3000" dirty="0"/>
          </a:p>
          <a:p>
            <a:pPr>
              <a:buFont typeface="Arial" panose="020B0604020202020204" pitchFamily="34" charset="0"/>
              <a:buChar char="•"/>
            </a:pPr>
            <a:r>
              <a:rPr lang="en-US" sz="3000" dirty="0"/>
              <a:t>Combines explainable AI (XGBoost) and generative forecasting (TimeLLM).</a:t>
            </a:r>
          </a:p>
          <a:p>
            <a:pPr>
              <a:buFont typeface="Arial" panose="020B0604020202020204" pitchFamily="34" charset="0"/>
              <a:buChar char="•"/>
            </a:pPr>
            <a:r>
              <a:rPr lang="en-US" sz="3000" dirty="0"/>
              <a:t>Serverless and cost-efficient with AWS-native tools.</a:t>
            </a:r>
          </a:p>
          <a:p>
            <a:pPr>
              <a:buFont typeface="Arial" panose="020B0604020202020204" pitchFamily="34" charset="0"/>
              <a:buChar char="•"/>
            </a:pPr>
            <a:r>
              <a:rPr lang="en-US" sz="3000" dirty="0"/>
              <a:t>Real-time user feedback loop enhances model robustness and adaptability.</a:t>
            </a:r>
          </a:p>
          <a:p>
            <a:pPr>
              <a:buFont typeface="Arial" panose="020B0604020202020204" pitchFamily="34" charset="0"/>
              <a:buChar char="•"/>
            </a:pPr>
            <a:r>
              <a:rPr lang="en-US" sz="3000" dirty="0"/>
              <a:t>Supports accessibility features (voice input/output, screen readers).</a:t>
            </a:r>
          </a:p>
          <a:p>
            <a:pPr>
              <a:buNone/>
            </a:pPr>
            <a:r>
              <a:rPr lang="en-US" sz="3000" b="1" dirty="0"/>
              <a:t> Dependencies</a:t>
            </a:r>
            <a:endParaRPr lang="en-US" sz="3000" dirty="0"/>
          </a:p>
          <a:p>
            <a:pPr>
              <a:buFont typeface="Arial" panose="020B0604020202020204" pitchFamily="34" charset="0"/>
              <a:buChar char="•"/>
            </a:pPr>
            <a:r>
              <a:rPr lang="en-US" sz="3000" dirty="0"/>
              <a:t>AWS Services: Glue, S3, Athena, SageMaker, Bedrock, RDS, Lambda, IAM.</a:t>
            </a:r>
          </a:p>
          <a:p>
            <a:pPr>
              <a:buFont typeface="Arial" panose="020B0604020202020204" pitchFamily="34" charset="0"/>
              <a:buChar char="•"/>
            </a:pPr>
            <a:r>
              <a:rPr lang="en-US" sz="3000" dirty="0"/>
              <a:t>Python Libraries: pandas, </a:t>
            </a:r>
            <a:r>
              <a:rPr lang="en-US" sz="3000" dirty="0" err="1"/>
              <a:t>xgboost</a:t>
            </a:r>
            <a:r>
              <a:rPr lang="en-US" sz="3000" dirty="0"/>
              <a:t>, transformers, boto3, </a:t>
            </a:r>
            <a:r>
              <a:rPr lang="en-US" sz="3000" dirty="0" err="1"/>
              <a:t>streamlit</a:t>
            </a:r>
            <a:r>
              <a:rPr lang="en-US" sz="3000" dirty="0"/>
              <a:t>.</a:t>
            </a:r>
          </a:p>
          <a:p>
            <a:pPr>
              <a:buFont typeface="Arial" panose="020B0604020202020204" pitchFamily="34" charset="0"/>
              <a:buChar char="•"/>
            </a:pPr>
            <a:r>
              <a:rPr lang="en-US" sz="3000" dirty="0"/>
              <a:t>TimeLLM model adapted from open-source GitHub repository.</a:t>
            </a:r>
          </a:p>
          <a:p>
            <a:pPr>
              <a:buFont typeface="Arial" panose="020B0604020202020204" pitchFamily="34" charset="0"/>
              <a:buChar char="•"/>
            </a:pPr>
            <a:r>
              <a:rPr lang="en-US" sz="3000" dirty="0"/>
              <a:t>Internet access required for Bedrock API integration.</a:t>
            </a:r>
          </a:p>
        </p:txBody>
      </p:sp>
    </p:spTree>
    <p:extLst>
      <p:ext uri="{BB962C8B-B14F-4D97-AF65-F5344CB8AC3E}">
        <p14:creationId xmlns:p14="http://schemas.microsoft.com/office/powerpoint/2010/main" val="1688584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191DDF-9658-5CB3-3E41-6B4ACBA20DB5}"/>
              </a:ext>
            </a:extLst>
          </p:cNvPr>
          <p:cNvSpPr>
            <a:spLocks noGrp="1"/>
          </p:cNvSpPr>
          <p:nvPr>
            <p:ph type="body" sz="quarter" idx="11"/>
          </p:nvPr>
        </p:nvSpPr>
        <p:spPr>
          <a:xfrm>
            <a:off x="460248" y="1148576"/>
            <a:ext cx="23463504" cy="10058400"/>
          </a:xfrm>
        </p:spPr>
        <p:txBody>
          <a:bodyPr/>
          <a:lstStyle/>
          <a:p>
            <a:pPr>
              <a:buNone/>
            </a:pPr>
            <a:r>
              <a:rPr lang="en-US" sz="3600" dirty="0"/>
              <a:t>TimeLLM inference cost and latency are higher than traditional models.</a:t>
            </a:r>
          </a:p>
          <a:p>
            <a:pPr>
              <a:buNone/>
            </a:pPr>
            <a:r>
              <a:rPr lang="en-US" sz="3600" dirty="0"/>
              <a:t>Requires historical data for optimal accuracy — cold-start still a challenge.</a:t>
            </a:r>
          </a:p>
          <a:p>
            <a:pPr>
              <a:buNone/>
            </a:pPr>
            <a:r>
              <a:rPr lang="en-US" sz="3600" dirty="0"/>
              <a:t>Some services (e.g., Bedrock, SageMaker) may incur extra costs if scaled.</a:t>
            </a:r>
          </a:p>
          <a:p>
            <a:r>
              <a:rPr lang="en-US" sz="3600" dirty="0"/>
              <a:t>Explainability for TimeLLM is experimental; not as mature as tabular models.</a:t>
            </a:r>
          </a:p>
          <a:p>
            <a:endParaRPr lang="en-US" sz="3600" dirty="0"/>
          </a:p>
        </p:txBody>
      </p:sp>
    </p:spTree>
    <p:extLst>
      <p:ext uri="{BB962C8B-B14F-4D97-AF65-F5344CB8AC3E}">
        <p14:creationId xmlns:p14="http://schemas.microsoft.com/office/powerpoint/2010/main" val="835938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hallenge…"/>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Ethical &amp; security considerations​</a:t>
            </a:r>
          </a:p>
        </p:txBody>
      </p:sp>
      <p:sp>
        <p:nvSpPr>
          <p:cNvPr id="2" name="Text Placeholder 1">
            <a:extLst>
              <a:ext uri="{FF2B5EF4-FFF2-40B4-BE49-F238E27FC236}">
                <a16:creationId xmlns:a16="http://schemas.microsoft.com/office/drawing/2014/main" id="{AFA59616-B2BF-F84B-990D-4CF5FC5E65BF}"/>
              </a:ext>
            </a:extLst>
          </p:cNvPr>
          <p:cNvSpPr>
            <a:spLocks noGrp="1"/>
          </p:cNvSpPr>
          <p:nvPr>
            <p:ph type="body" sz="quarter" idx="11"/>
          </p:nvPr>
        </p:nvSpPr>
        <p:spPr/>
        <p:txBody>
          <a:bodyPr/>
          <a:lstStyle/>
          <a:p>
            <a:pPr>
              <a:buNone/>
            </a:pPr>
            <a:r>
              <a:rPr lang="en-US" sz="3200" b="1" dirty="0"/>
              <a:t>Data Privacy and Security</a:t>
            </a:r>
            <a:endParaRPr lang="en-US" sz="3200" dirty="0"/>
          </a:p>
          <a:p>
            <a:pPr>
              <a:buFont typeface="Arial" panose="020B0604020202020204" pitchFamily="34" charset="0"/>
              <a:buChar char="•"/>
            </a:pPr>
            <a:r>
              <a:rPr lang="en-US" sz="3200" dirty="0"/>
              <a:t>All data is stored in Amazon S3 with strict access controls using IAM policies.</a:t>
            </a:r>
          </a:p>
          <a:p>
            <a:pPr>
              <a:buFont typeface="Arial" panose="020B0604020202020204" pitchFamily="34" charset="0"/>
              <a:buChar char="•"/>
            </a:pPr>
            <a:r>
              <a:rPr lang="en-US" sz="3200" dirty="0"/>
              <a:t>Personally identifiable information (PII) is excluded from all datasets.</a:t>
            </a:r>
          </a:p>
          <a:p>
            <a:pPr>
              <a:buFont typeface="Arial" panose="020B0604020202020204" pitchFamily="34" charset="0"/>
              <a:buChar char="•"/>
            </a:pPr>
            <a:r>
              <a:rPr lang="en-US" sz="3200" dirty="0"/>
              <a:t>Monitoring and logging are enabled using AWS CloudWatch to ensure traceability and incident response readiness.</a:t>
            </a:r>
          </a:p>
          <a:p>
            <a:pPr>
              <a:buFont typeface="Arial" panose="020B0604020202020204" pitchFamily="34" charset="0"/>
              <a:buChar char="•"/>
            </a:pPr>
            <a:endParaRPr lang="en-US" sz="3200" dirty="0"/>
          </a:p>
          <a:p>
            <a:pPr>
              <a:buNone/>
            </a:pPr>
            <a:r>
              <a:rPr lang="en-US" sz="3200" b="1" dirty="0"/>
              <a:t>Responsible Use of AI</a:t>
            </a:r>
            <a:endParaRPr lang="en-US" sz="3200" dirty="0"/>
          </a:p>
          <a:p>
            <a:pPr>
              <a:buFont typeface="Arial" panose="020B0604020202020204" pitchFamily="34" charset="0"/>
              <a:buChar char="•"/>
            </a:pPr>
            <a:r>
              <a:rPr lang="en-US" sz="3200" dirty="0"/>
              <a:t>Forecasting outputs from TimeLLM are complemented with interpretable XGBoost models to enhance transparency.</a:t>
            </a:r>
          </a:p>
          <a:p>
            <a:pPr>
              <a:buFont typeface="Arial" panose="020B0604020202020204" pitchFamily="34" charset="0"/>
              <a:buChar char="•"/>
            </a:pPr>
            <a:r>
              <a:rPr lang="en-US" sz="3200" dirty="0"/>
              <a:t>Amazon Bedrock is used for model explainability to ensure accountability in predictions.</a:t>
            </a:r>
          </a:p>
          <a:p>
            <a:pPr>
              <a:buFont typeface="Arial" panose="020B0604020202020204" pitchFamily="34" charset="0"/>
              <a:buChar char="•"/>
            </a:pPr>
            <a:r>
              <a:rPr lang="en-US" sz="3200" dirty="0"/>
              <a:t>Bias detection strategies are under consideration for future implementation.</a:t>
            </a:r>
          </a:p>
        </p:txBody>
      </p:sp>
    </p:spTree>
    <p:extLst>
      <p:ext uri="{BB962C8B-B14F-4D97-AF65-F5344CB8AC3E}">
        <p14:creationId xmlns:p14="http://schemas.microsoft.com/office/powerpoint/2010/main" val="207965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0A9944-FCBD-548E-385B-ABB6E2E747DF}"/>
              </a:ext>
            </a:extLst>
          </p:cNvPr>
          <p:cNvSpPr>
            <a:spLocks noGrp="1"/>
          </p:cNvSpPr>
          <p:nvPr>
            <p:ph type="body" sz="quarter" idx="11"/>
          </p:nvPr>
        </p:nvSpPr>
        <p:spPr>
          <a:xfrm>
            <a:off x="0" y="880946"/>
            <a:ext cx="23463504" cy="10058400"/>
          </a:xfrm>
        </p:spPr>
        <p:txBody>
          <a:bodyPr/>
          <a:lstStyle/>
          <a:p>
            <a:pPr>
              <a:buNone/>
            </a:pPr>
            <a:r>
              <a:rPr lang="en-US" sz="3600" b="1" dirty="0"/>
              <a:t>Compliance and Governance</a:t>
            </a:r>
            <a:endParaRPr lang="en-US" sz="3600" dirty="0"/>
          </a:p>
          <a:p>
            <a:pPr>
              <a:buFont typeface="Arial" panose="020B0604020202020204" pitchFamily="34" charset="0"/>
              <a:buChar char="•"/>
            </a:pPr>
            <a:r>
              <a:rPr lang="en-US" sz="3600" dirty="0"/>
              <a:t>Data classification and automated sensitivity detection are handled through AWS Macie.</a:t>
            </a:r>
          </a:p>
          <a:p>
            <a:pPr>
              <a:buFont typeface="Arial" panose="020B0604020202020204" pitchFamily="34" charset="0"/>
              <a:buChar char="•"/>
            </a:pPr>
            <a:r>
              <a:rPr lang="en-US" sz="3600" dirty="0"/>
              <a:t>Role-based access control (RBAC) ensures only authorized users can interact with critical system components.</a:t>
            </a:r>
          </a:p>
          <a:p>
            <a:pPr>
              <a:buFont typeface="Arial" panose="020B0604020202020204" pitchFamily="34" charset="0"/>
              <a:buChar char="•"/>
            </a:pPr>
            <a:r>
              <a:rPr lang="en-US" sz="3600" dirty="0"/>
              <a:t>A feedback mechanism is integrated to allow users to report issues or inaccuracies, promoting continuous improvement.</a:t>
            </a:r>
          </a:p>
          <a:p>
            <a:pPr>
              <a:buNone/>
            </a:pPr>
            <a:r>
              <a:rPr lang="en-US" sz="3600" b="1" dirty="0"/>
              <a:t>Identified Ethical Risks and Mitigations</a:t>
            </a:r>
            <a:endParaRPr lang="en-US" sz="3600" dirty="0"/>
          </a:p>
          <a:p>
            <a:pPr>
              <a:buFont typeface="Arial" panose="020B0604020202020204" pitchFamily="34" charset="0"/>
              <a:buChar char="•"/>
            </a:pPr>
            <a:r>
              <a:rPr lang="en-US" sz="3600" i="1" dirty="0"/>
              <a:t>Forecasting Bias:</a:t>
            </a:r>
            <a:r>
              <a:rPr lang="en-US" sz="3600" dirty="0"/>
              <a:t> Groupwise training ensures fair treatment of different store types and sizes.</a:t>
            </a:r>
          </a:p>
          <a:p>
            <a:pPr>
              <a:buFont typeface="Arial" panose="020B0604020202020204" pitchFamily="34" charset="0"/>
              <a:buChar char="•"/>
            </a:pPr>
            <a:r>
              <a:rPr lang="en-US" sz="3600" i="1" dirty="0"/>
              <a:t>Overreliance on AI Outputs:</a:t>
            </a:r>
            <a:r>
              <a:rPr lang="en-US" sz="3600" dirty="0"/>
              <a:t> Human-in-the-loop workflows are encouraged to validate predictions and override where necessary.</a:t>
            </a:r>
          </a:p>
          <a:p>
            <a:endParaRPr lang="en-US" sz="3600" dirty="0"/>
          </a:p>
        </p:txBody>
      </p:sp>
    </p:spTree>
    <p:extLst>
      <p:ext uri="{BB962C8B-B14F-4D97-AF65-F5344CB8AC3E}">
        <p14:creationId xmlns:p14="http://schemas.microsoft.com/office/powerpoint/2010/main" val="3943583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7ECEA-C11A-4FC6-3675-D3A3271C2DDE}"/>
            </a:ext>
          </a:extLst>
        </p:cNvPr>
        <p:cNvGrpSpPr/>
        <p:nvPr/>
      </p:nvGrpSpPr>
      <p:grpSpPr>
        <a:xfrm>
          <a:off x="0" y="0"/>
          <a:ext cx="0" cy="0"/>
          <a:chOff x="0" y="0"/>
          <a:chExt cx="0" cy="0"/>
        </a:xfrm>
      </p:grpSpPr>
      <p:sp>
        <p:nvSpPr>
          <p:cNvPr id="399" name="Challenge…">
            <a:extLst>
              <a:ext uri="{FF2B5EF4-FFF2-40B4-BE49-F238E27FC236}">
                <a16:creationId xmlns:a16="http://schemas.microsoft.com/office/drawing/2014/main" id="{CC07EDF8-431D-8803-8B97-F78942F265EF}"/>
              </a:ext>
            </a:extLst>
          </p:cNvPr>
          <p:cNvSpPr txBox="1">
            <a:spLocks noGrp="1"/>
          </p:cNvSpPr>
          <p:nvPr>
            <p:ph type="body" sz="quarter" idx="10"/>
          </p:nvPr>
        </p:nvSpPr>
        <p:spPr>
          <a:prstGeom prst="rect">
            <a:avLst/>
          </a:prstGeom>
        </p:spPr>
        <p:txBody>
          <a:bodyPr lIns="0" rIns="0">
            <a:normAutofit/>
          </a:bodyPr>
          <a:lstStyle/>
          <a:p>
            <a:pPr defTabSz="800735">
              <a:spcBef>
                <a:spcPts val="1500"/>
              </a:spcBef>
              <a:buSzPct val="125000"/>
              <a:defRPr sz="4656"/>
            </a:pPr>
            <a:r>
              <a:rPr lang="en-US" sz="5400"/>
              <a:t>Project URL, video pitch &amp; demo</a:t>
            </a:r>
          </a:p>
        </p:txBody>
      </p:sp>
      <p:sp>
        <p:nvSpPr>
          <p:cNvPr id="2" name="Text Placeholder 1">
            <a:extLst>
              <a:ext uri="{FF2B5EF4-FFF2-40B4-BE49-F238E27FC236}">
                <a16:creationId xmlns:a16="http://schemas.microsoft.com/office/drawing/2014/main" id="{EC47E9E1-4E69-10A1-DE9C-EF06FAF8090D}"/>
              </a:ext>
            </a:extLst>
          </p:cNvPr>
          <p:cNvSpPr>
            <a:spLocks noGrp="1"/>
          </p:cNvSpPr>
          <p:nvPr>
            <p:ph type="body" sz="quarter" idx="11"/>
          </p:nvPr>
        </p:nvSpPr>
        <p:spPr>
          <a:xfrm>
            <a:off x="458114" y="1784195"/>
            <a:ext cx="23463504" cy="10058400"/>
          </a:xfrm>
        </p:spPr>
        <p:txBody>
          <a:bodyPr/>
          <a:lstStyle/>
          <a:p>
            <a:pPr>
              <a:buNone/>
            </a:pPr>
            <a:endParaRPr lang="en-US" sz="3200" b="1" dirty="0"/>
          </a:p>
          <a:p>
            <a:pPr>
              <a:buNone/>
            </a:pPr>
            <a:r>
              <a:rPr lang="en-US" sz="3200" b="1" dirty="0"/>
              <a:t>Project Pitch Video (3 Minutes)</a:t>
            </a:r>
            <a:br>
              <a:rPr lang="en-US" sz="3200" dirty="0"/>
            </a:br>
            <a:r>
              <a:rPr lang="en-US" sz="3200" dirty="0"/>
              <a:t>A short video walkthrough explaining the project motivation, approach, architecture, and GenAI integration strategy.</a:t>
            </a:r>
            <a:br>
              <a:rPr lang="en-US" sz="3200" dirty="0"/>
            </a:br>
            <a:r>
              <a:rPr lang="en-US" sz="3200" i="1" dirty="0"/>
              <a:t>→https://</a:t>
            </a:r>
            <a:r>
              <a:rPr lang="en-US" sz="3200" i="1" dirty="0" err="1"/>
              <a:t>youtu.be</a:t>
            </a:r>
            <a:r>
              <a:rPr lang="en-US" sz="3200" i="1"/>
              <a:t>/5XUIq1OunpQ</a:t>
            </a:r>
            <a:endParaRPr lang="en-US" sz="3200" dirty="0"/>
          </a:p>
          <a:p>
            <a:pPr>
              <a:buNone/>
            </a:pPr>
            <a:r>
              <a:rPr lang="en-US" sz="3200" b="1" dirty="0"/>
              <a:t>Dry-Run Application Demo</a:t>
            </a:r>
            <a:br>
              <a:rPr lang="en-US" sz="3200" dirty="0"/>
            </a:br>
            <a:r>
              <a:rPr lang="en-US" sz="3200" dirty="0"/>
              <a:t>The video also includes a live demonstration covering:</a:t>
            </a:r>
          </a:p>
          <a:p>
            <a:pPr>
              <a:buFont typeface="Arial" panose="020B0604020202020204" pitchFamily="34" charset="0"/>
              <a:buChar char="•"/>
            </a:pPr>
            <a:r>
              <a:rPr lang="en-US" sz="3200" dirty="0"/>
              <a:t>Data ingestion and transformation using AWS Glue and S3</a:t>
            </a:r>
          </a:p>
          <a:p>
            <a:pPr>
              <a:buFont typeface="Arial" panose="020B0604020202020204" pitchFamily="34" charset="0"/>
              <a:buChar char="•"/>
            </a:pPr>
            <a:r>
              <a:rPr lang="en-US" sz="3200" dirty="0"/>
              <a:t>Forecasting outputs from XGBoost and TimeLLM</a:t>
            </a:r>
          </a:p>
          <a:p>
            <a:pPr>
              <a:buFont typeface="Arial" panose="020B0604020202020204" pitchFamily="34" charset="0"/>
              <a:buChar char="•"/>
            </a:pPr>
            <a:r>
              <a:rPr lang="en-US" sz="3200" dirty="0"/>
              <a:t>Explainability interface using Amazon Bedrock</a:t>
            </a:r>
          </a:p>
          <a:p>
            <a:pPr>
              <a:buFont typeface="Arial" panose="020B0604020202020204" pitchFamily="34" charset="0"/>
              <a:buChar char="•"/>
            </a:pPr>
            <a:r>
              <a:rPr lang="en-US" sz="3200" dirty="0"/>
              <a:t>Real-time feedback and visualization via Streamlit</a:t>
            </a:r>
          </a:p>
        </p:txBody>
      </p:sp>
    </p:spTree>
    <p:extLst>
      <p:ext uri="{BB962C8B-B14F-4D97-AF65-F5344CB8AC3E}">
        <p14:creationId xmlns:p14="http://schemas.microsoft.com/office/powerpoint/2010/main" val="337061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49EBB-8C5D-8929-9417-466001838264}"/>
            </a:ext>
          </a:extLst>
        </p:cNvPr>
        <p:cNvGrpSpPr/>
        <p:nvPr/>
      </p:nvGrpSpPr>
      <p:grpSpPr>
        <a:xfrm>
          <a:off x="0" y="0"/>
          <a:ext cx="0" cy="0"/>
          <a:chOff x="0" y="0"/>
          <a:chExt cx="0" cy="0"/>
        </a:xfrm>
      </p:grpSpPr>
    </p:spTree>
    <p:extLst>
      <p:ext uri="{BB962C8B-B14F-4D97-AF65-F5344CB8AC3E}">
        <p14:creationId xmlns:p14="http://schemas.microsoft.com/office/powerpoint/2010/main" val="4279385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Impetus Template Jan 2025 - B&amp;W">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91436" tIns="91436" rIns="91436" bIns="91436"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6" tIns="91436" rIns="91436" bIns="91436" numCol="1" spcCol="38100" rtlCol="0" anchor="t">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7AC907B1842346BBCDEDCD90FAA546" ma:contentTypeVersion="24" ma:contentTypeDescription="Create a new document." ma:contentTypeScope="" ma:versionID="a48645a299910e8e611847bc8dcec5ca">
  <xsd:schema xmlns:xsd="http://www.w3.org/2001/XMLSchema" xmlns:xs="http://www.w3.org/2001/XMLSchema" xmlns:p="http://schemas.microsoft.com/office/2006/metadata/properties" xmlns:ns2="bc7aeddc-eed4-4c2a-9e1c-1dbcabef019d" xmlns:ns3="70efae34-dbcb-425c-a9ed-5a25cf780907" targetNamespace="http://schemas.microsoft.com/office/2006/metadata/properties" ma:root="true" ma:fieldsID="ab06ee1ea9193d6de8e91e5e56314d93" ns2:_="" ns3:_="">
    <xsd:import namespace="bc7aeddc-eed4-4c2a-9e1c-1dbcabef019d"/>
    <xsd:import namespace="70efae34-dbcb-425c-a9ed-5a25cf780907"/>
    <xsd:element name="properties">
      <xsd:complexType>
        <xsd:sequence>
          <xsd:element name="documentManagement">
            <xsd:complexType>
              <xsd:all>
                <xsd:element ref="ns2:Industry" minOccurs="0"/>
                <xsd:element ref="ns2:Client" minOccurs="0"/>
                <xsd:element ref="ns2:Products_x002f_Services" minOccurs="0"/>
                <xsd:element ref="ns3:SharedWithUsers" minOccurs="0"/>
                <xsd:element ref="ns3:SharedWithDetails" minOccurs="0"/>
                <xsd:element ref="ns2:MediaServiceMetadata" minOccurs="0"/>
                <xsd:element ref="ns2:MediaServiceFastMetadata" minOccurs="0"/>
                <xsd:element ref="ns2:MediaServiceAutoTags" minOccurs="0"/>
                <xsd:element ref="ns2:MediaServiceOCR" minOccurs="0"/>
                <xsd:element ref="ns2:Category" minOccurs="0"/>
                <xsd:element ref="ns2:MediaServiceDateTaken" minOccurs="0"/>
                <xsd:element ref="ns2:MediaServiceGenerationTime" minOccurs="0"/>
                <xsd:element ref="ns2:MediaServiceEventHashCode" minOccurs="0"/>
                <xsd:element ref="ns2:MediaLengthInSeconds" minOccurs="0"/>
                <xsd:element ref="ns2:Updated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7aeddc-eed4-4c2a-9e1c-1dbcabef019d" elementFormDefault="qualified">
    <xsd:import namespace="http://schemas.microsoft.com/office/2006/documentManagement/types"/>
    <xsd:import namespace="http://schemas.microsoft.com/office/infopath/2007/PartnerControls"/>
    <xsd:element name="Industry" ma:index="2" nillable="true" ma:displayName="Industry" ma:format="Dropdown" ma:internalName="Industry">
      <xsd:simpleType>
        <xsd:restriction base="dms:Text">
          <xsd:maxLength value="255"/>
        </xsd:restriction>
      </xsd:simpleType>
    </xsd:element>
    <xsd:element name="Client" ma:index="3" nillable="true" ma:displayName="Client" ma:format="Dropdown" ma:internalName="Client" ma:readOnly="false">
      <xsd:simpleType>
        <xsd:restriction base="dms:Text">
          <xsd:maxLength value="255"/>
        </xsd:restriction>
      </xsd:simpleType>
    </xsd:element>
    <xsd:element name="Products_x002f_Services" ma:index="4" nillable="true" ma:displayName="Products/Services" ma:format="Dropdown" ma:internalName="Products_x002f_Services">
      <xsd:complexType>
        <xsd:complexContent>
          <xsd:extension base="dms:MultiChoiceFillIn">
            <xsd:sequence>
              <xsd:element name="Value" maxOccurs="unbounded" minOccurs="0" nillable="true">
                <xsd:simpleType>
                  <xsd:union memberTypes="dms:Text">
                    <xsd:simpleType>
                      <xsd:restriction base="dms:Choice">
                        <xsd:enumeration value="Architecture Consulting"/>
                        <xsd:enumeration value="Application Modernization"/>
                        <xsd:enumeration value="Cloud Test Engineering"/>
                        <xsd:enumeration value="Data Lake/Warehouse"/>
                        <xsd:enumeration value="Security &amp; Governance"/>
                        <xsd:enumeration value="Cost Engineering"/>
                        <xsd:enumeration value="DevOps"/>
                        <xsd:enumeration value="Data Pipelining"/>
                        <xsd:enumeration value="Data Analytics"/>
                        <xsd:enumeration value="AI/ML"/>
                        <xsd:enumeration value="LeapLogic"/>
                        <xsd:enumeration value="Gathr"/>
                      </xsd:restriction>
                    </xsd:simpleType>
                  </xsd:union>
                </xsd:simpleType>
              </xsd:element>
            </xsd:sequence>
          </xsd:extension>
        </xsd:complexContent>
      </xsd:complex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Category" ma:index="16" nillable="true" ma:displayName="Category" ma:description="Services or product detail" ma:hidden="true" ma:internalName="Category" ma:readOnly="false">
      <xsd:simpleType>
        <xsd:restriction base="dms:Text">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Updatedon" ma:index="22" nillable="true" ma:displayName="Updated on" ma:format="DateOnly" ma:internalName="Updatedon">
      <xsd:simpleType>
        <xsd:restriction base="dms:DateTime"/>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fb2f7597-2fc2-474c-8e2e-3dafcc11b60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efae34-dbcb-425c-a9ed-5a25cf780907" elementFormDefault="qualified">
    <xsd:import namespace="http://schemas.microsoft.com/office/2006/documentManagement/types"/>
    <xsd:import namespace="http://schemas.microsoft.com/office/infopath/2007/PartnerControls"/>
    <xsd:element name="SharedWithUsers" ma:index="8"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hidden="true" ma:internalName="SharedWithDetails" ma:readOnly="true">
      <xsd:simpleType>
        <xsd:restriction base="dms:Note"/>
      </xsd:simpleType>
    </xsd:element>
    <xsd:element name="TaxCatchAll" ma:index="25" nillable="true" ma:displayName="Taxonomy Catch All Column" ma:hidden="true" ma:list="{4b209af0-6474-4ab4-a5ff-81d124ebfc92}" ma:internalName="TaxCatchAll" ma:showField="CatchAllData" ma:web="70efae34-dbcb-425c-a9ed-5a25cf78090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dustry xmlns="bc7aeddc-eed4-4c2a-9e1c-1dbcabef019d" xsi:nil="true"/>
    <Category xmlns="bc7aeddc-eed4-4c2a-9e1c-1dbcabef019d" xsi:nil="true"/>
    <Products_x002f_Services xmlns="bc7aeddc-eed4-4c2a-9e1c-1dbcabef019d" xsi:nil="true"/>
    <TaxCatchAll xmlns="70efae34-dbcb-425c-a9ed-5a25cf780907" xsi:nil="true"/>
    <Updatedon xmlns="bc7aeddc-eed4-4c2a-9e1c-1dbcabef019d" xsi:nil="true"/>
    <Client xmlns="bc7aeddc-eed4-4c2a-9e1c-1dbcabef019d" xsi:nil="true"/>
    <lcf76f155ced4ddcb4097134ff3c332f xmlns="bc7aeddc-eed4-4c2a-9e1c-1dbcabef019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256F9D1-B1DD-4E6E-976F-84068C009EBB}">
  <ds:schemaRefs>
    <ds:schemaRef ds:uri="70efae34-dbcb-425c-a9ed-5a25cf780907"/>
    <ds:schemaRef ds:uri="bc7aeddc-eed4-4c2a-9e1c-1dbcabef01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D55628E-AD79-4096-B954-F19F4B92F2F8}">
  <ds:schemaRefs>
    <ds:schemaRef ds:uri="http://schemas.microsoft.com/sharepoint/v3/contenttype/forms"/>
  </ds:schemaRefs>
</ds:datastoreItem>
</file>

<file path=customXml/itemProps3.xml><?xml version="1.0" encoding="utf-8"?>
<ds:datastoreItem xmlns:ds="http://schemas.openxmlformats.org/officeDocument/2006/customXml" ds:itemID="{53293842-1A8C-4609-B6D2-9BDAB741B4C6}">
  <ds:schemaRefs>
    <ds:schemaRef ds:uri="70efae34-dbcb-425c-a9ed-5a25cf780907"/>
    <ds:schemaRef ds:uri="bc7aeddc-eed4-4c2a-9e1c-1dbcabef019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53</TotalTime>
  <Words>1200</Words>
  <Application>Microsoft Macintosh PowerPoint</Application>
  <PresentationFormat>Custom</PresentationFormat>
  <Paragraphs>99</Paragraphs>
  <Slides>17</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 Light</vt:lpstr>
      <vt:lpstr>Courier New</vt:lpstr>
      <vt:lpstr>Lato</vt:lpstr>
      <vt:lpstr>Lato Light</vt:lpstr>
      <vt:lpstr>Poppins Medium</vt:lpstr>
      <vt:lpstr>Wingdings</vt:lpstr>
      <vt:lpstr>Impetus Template Jan 2025 - B&amp;W</vt:lpstr>
      <vt:lpstr>PowerPoint Presentation</vt:lpstr>
      <vt:lpstr>AWS &amp; Impetus     GenAI Hackathon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Rakesh Raushan</dc:creator>
  <cp:lastModifiedBy>JINEN ALPESHKUMAR MODI</cp:lastModifiedBy>
  <cp:revision>9</cp:revision>
  <dcterms:modified xsi:type="dcterms:W3CDTF">2025-07-11T03:34:03Z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0x0101009B7AC907B1842346BBCDEDCD90FAA546</vt:lpwstr>
  </property>
  <property fmtid="{D5CDD505-2E9C-101B-9397-08002B2CF9AE}" pid="3" name="MediaServiceImageTags">
    <vt:lpwstr/>
  </property>
</Properties>
</file>